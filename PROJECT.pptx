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3" r:id="rId3"/>
    <p:sldId id="257" r:id="rId4"/>
    <p:sldId id="258" r:id="rId5"/>
    <p:sldId id="279" r:id="rId6"/>
    <p:sldId id="280" r:id="rId7"/>
    <p:sldId id="281" r:id="rId8"/>
    <p:sldId id="259" r:id="rId9"/>
    <p:sldId id="274" r:id="rId10"/>
    <p:sldId id="277" r:id="rId11"/>
    <p:sldId id="260" r:id="rId12"/>
    <p:sldId id="262" r:id="rId13"/>
    <p:sldId id="271"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8EC4ED-E6A5-4DA5-8064-6DF652CCF58C}" v="12" dt="2026-04-26T11:28:47.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94" d="100"/>
          <a:sy n="94"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6831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5000"/>
                <a:lumOff val="95000"/>
              </a:schemeClr>
            </a:gs>
            <a:gs pos="29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3.mp4"/><Relationship Id="rId7"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video" Target="../media/media4.mp4"/><Relationship Id="rId5" Type="http://schemas.microsoft.com/office/2007/relationships/media" Target="../media/media4.mp4"/><Relationship Id="rId10" Type="http://schemas.openxmlformats.org/officeDocument/2006/relationships/image" Target="../media/image7.png"/><Relationship Id="rId4" Type="http://schemas.openxmlformats.org/officeDocument/2006/relationships/video" Target="../media/media3.mp4"/><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457200" y="822960"/>
            <a:ext cx="8229600" cy="2011680"/>
          </a:xfrm>
          <a:prstGeom prst="rect">
            <a:avLst/>
          </a:prstGeom>
          <a:noFill/>
          <a:ln/>
        </p:spPr>
        <p:txBody>
          <a:bodyPr wrap="square" rtlCol="0" anchor="ctr"/>
          <a:lstStyle/>
          <a:p>
            <a:pPr algn="ctr"/>
            <a:r>
              <a:rPr lang="en-US" sz="4000" dirty="0">
                <a:solidFill>
                  <a:srgbClr val="0070C0"/>
                </a:solidFill>
              </a:rPr>
              <a:t>AUTOMATED THERMAL SCREENING AND ACCESS CONTROL SYSTEM </a:t>
            </a:r>
          </a:p>
        </p:txBody>
      </p:sp>
      <p:sp>
        <p:nvSpPr>
          <p:cNvPr id="4" name="Text 2"/>
          <p:cNvSpPr/>
          <p:nvPr/>
        </p:nvSpPr>
        <p:spPr>
          <a:xfrm>
            <a:off x="457200" y="2916936"/>
            <a:ext cx="8229600" cy="548640"/>
          </a:xfrm>
          <a:prstGeom prst="rect">
            <a:avLst/>
          </a:prstGeom>
          <a:noFill/>
          <a:ln/>
        </p:spPr>
        <p:txBody>
          <a:bodyPr wrap="square" rtlCol="0" anchor="ctr"/>
          <a:lstStyle/>
          <a:p>
            <a:pPr marL="0" indent="0" algn="ctr">
              <a:buNone/>
            </a:pPr>
            <a:r>
              <a:rPr lang="en-US" sz="2000" dirty="0">
                <a:solidFill>
                  <a:srgbClr val="00D4FF"/>
                </a:solidFill>
                <a:latin typeface="Calibri" pitchFamily="34" charset="0"/>
                <a:ea typeface="Calibri" pitchFamily="34" charset="-122"/>
                <a:cs typeface="Calibri" pitchFamily="34" charset="-120"/>
              </a:rPr>
              <a:t>Smart Entry Control with IoT Monitoring</a:t>
            </a:r>
            <a:endParaRPr lang="en-US" sz="2000" dirty="0"/>
          </a:p>
        </p:txBody>
      </p:sp>
      <p:sp>
        <p:nvSpPr>
          <p:cNvPr id="6" name="Text 4"/>
          <p:cNvSpPr/>
          <p:nvPr/>
        </p:nvSpPr>
        <p:spPr>
          <a:xfrm>
            <a:off x="365760" y="3657600"/>
            <a:ext cx="1508760" cy="438912"/>
          </a:xfrm>
          <a:prstGeom prst="rect">
            <a:avLst/>
          </a:prstGeom>
          <a:noFill/>
          <a:ln/>
        </p:spPr>
        <p:txBody>
          <a:bodyPr wrap="square" rtlCol="0" anchor="ctr"/>
          <a:lstStyle/>
          <a:p>
            <a:pPr marL="0" indent="0" algn="ctr">
              <a:buNone/>
            </a:pPr>
            <a:endParaRPr lang="en-US" sz="1000" dirty="0"/>
          </a:p>
        </p:txBody>
      </p:sp>
      <p:sp>
        <p:nvSpPr>
          <p:cNvPr id="8" name="Text 6"/>
          <p:cNvSpPr/>
          <p:nvPr/>
        </p:nvSpPr>
        <p:spPr>
          <a:xfrm>
            <a:off x="2057400" y="3657600"/>
            <a:ext cx="1508760" cy="438912"/>
          </a:xfrm>
          <a:prstGeom prst="rect">
            <a:avLst/>
          </a:prstGeom>
          <a:noFill/>
          <a:ln/>
        </p:spPr>
        <p:txBody>
          <a:bodyPr wrap="square" rtlCol="0" anchor="ctr"/>
          <a:lstStyle/>
          <a:p>
            <a:pPr marL="0" indent="0" algn="ctr">
              <a:buNone/>
            </a:pPr>
            <a:endParaRPr lang="en-US" sz="1000" dirty="0"/>
          </a:p>
        </p:txBody>
      </p:sp>
      <p:sp>
        <p:nvSpPr>
          <p:cNvPr id="10" name="Text 8"/>
          <p:cNvSpPr/>
          <p:nvPr/>
        </p:nvSpPr>
        <p:spPr>
          <a:xfrm>
            <a:off x="3749040" y="3657600"/>
            <a:ext cx="1508760" cy="438912"/>
          </a:xfrm>
          <a:prstGeom prst="rect">
            <a:avLst/>
          </a:prstGeom>
          <a:noFill/>
          <a:ln/>
        </p:spPr>
        <p:txBody>
          <a:bodyPr wrap="square" rtlCol="0" anchor="ctr"/>
          <a:lstStyle/>
          <a:p>
            <a:pPr marL="0" indent="0" algn="ctr">
              <a:buNone/>
            </a:pPr>
            <a:endParaRPr lang="en-US" sz="1000" dirty="0"/>
          </a:p>
        </p:txBody>
      </p:sp>
      <p:sp>
        <p:nvSpPr>
          <p:cNvPr id="12" name="Text 10"/>
          <p:cNvSpPr/>
          <p:nvPr/>
        </p:nvSpPr>
        <p:spPr>
          <a:xfrm>
            <a:off x="5440680" y="3921918"/>
            <a:ext cx="2381726" cy="174593"/>
          </a:xfrm>
          <a:prstGeom prst="rect">
            <a:avLst/>
          </a:prstGeom>
          <a:noFill/>
          <a:ln/>
        </p:spPr>
        <p:txBody>
          <a:bodyPr wrap="square" rtlCol="0" anchor="ctr"/>
          <a:lstStyle/>
          <a:p>
            <a:pPr marL="0" indent="0" algn="ctr">
              <a:buNone/>
            </a:pPr>
            <a:endParaRPr lang="en-US" sz="1100" b="1" dirty="0"/>
          </a:p>
          <a:p>
            <a:pPr marL="0" indent="0" algn="ctr">
              <a:buNone/>
            </a:pPr>
            <a:endParaRPr lang="en-US" sz="1100" b="1" dirty="0"/>
          </a:p>
          <a:p>
            <a:pPr marL="0" indent="0" algn="ctr">
              <a:buNone/>
            </a:pPr>
            <a:endParaRPr lang="en-US" sz="1100" b="1" dirty="0"/>
          </a:p>
          <a:p>
            <a:pPr marL="0" indent="0" algn="ctr">
              <a:buNone/>
            </a:pPr>
            <a:endParaRPr lang="en-US" sz="1100" b="1" dirty="0"/>
          </a:p>
          <a:p>
            <a:pPr marL="0" indent="0" algn="ctr">
              <a:buNone/>
            </a:pPr>
            <a:endParaRPr lang="en-US" sz="1000" dirty="0"/>
          </a:p>
          <a:p>
            <a:pPr marL="0" indent="0" algn="ctr">
              <a:buNone/>
            </a:pPr>
            <a:endParaRPr lang="en-US" sz="1000" dirty="0"/>
          </a:p>
        </p:txBody>
      </p:sp>
      <p:sp>
        <p:nvSpPr>
          <p:cNvPr id="14" name="Text 12"/>
          <p:cNvSpPr/>
          <p:nvPr/>
        </p:nvSpPr>
        <p:spPr>
          <a:xfrm>
            <a:off x="7132320" y="3657600"/>
            <a:ext cx="1508760" cy="438912"/>
          </a:xfrm>
          <a:prstGeom prst="rect">
            <a:avLst/>
          </a:prstGeom>
          <a:noFill/>
          <a:ln/>
        </p:spPr>
        <p:txBody>
          <a:bodyPr wrap="square" rtlCol="0" anchor="ctr"/>
          <a:lstStyle/>
          <a:p>
            <a:pPr marL="0" indent="0" algn="ctr">
              <a:buNone/>
            </a:pPr>
            <a:endParaRPr lang="en-US" sz="1000" dirty="0"/>
          </a:p>
        </p:txBody>
      </p:sp>
      <p:sp>
        <p:nvSpPr>
          <p:cNvPr id="16" name="Text 14"/>
          <p:cNvSpPr/>
          <p:nvPr/>
        </p:nvSpPr>
        <p:spPr>
          <a:xfrm>
            <a:off x="0" y="5029200"/>
            <a:ext cx="9144000" cy="114300"/>
          </a:xfrm>
          <a:prstGeom prst="rect">
            <a:avLst/>
          </a:prstGeom>
          <a:noFill/>
          <a:ln/>
        </p:spPr>
        <p:txBody>
          <a:bodyPr wrap="square" rtlCol="0" anchor="ctr"/>
          <a:lstStyle/>
          <a:p>
            <a:pPr marL="0" indent="0" algn="ctr">
              <a:buNone/>
            </a:pPr>
            <a:r>
              <a:rPr lang="en-US" sz="900" dirty="0">
                <a:solidFill>
                  <a:srgbClr val="8899AA"/>
                </a:solidFill>
              </a:rPr>
              <a:t>ECL211 – Project               </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D4FF"/>
          </a:solidFill>
          <a:ln w="12700">
            <a:solidFill>
              <a:srgbClr val="00D4FF"/>
            </a:solidFill>
          </a:ln>
        </p:spPr>
        <p:txBody>
          <a:bodyPr/>
          <a:lstStyle/>
          <a:p>
            <a:endParaRPr lang="en-US" dirty="0"/>
          </a:p>
        </p:txBody>
      </p:sp>
      <p:sp>
        <p:nvSpPr>
          <p:cNvPr id="3" name="Title"/>
          <p:cNvSpPr/>
          <p:nvPr/>
        </p:nvSpPr>
        <p:spPr>
          <a:xfrm>
            <a:off x="457200" y="137160"/>
            <a:ext cx="8229600" cy="548640"/>
          </a:xfrm>
          <a:prstGeom prst="rect">
            <a:avLst/>
          </a:prstGeom>
          <a:noFill/>
          <a:ln/>
        </p:spPr>
        <p:txBody>
          <a:bodyPr wrap="square" rtlCol="0" anchor="ctr"/>
          <a:lstStyle/>
          <a:p>
            <a:pPr algn="ctr"/>
            <a:r>
              <a:rPr lang="en-US" sz="2800" b="1" dirty="0">
                <a:solidFill>
                  <a:srgbClr val="FFFFFF"/>
                </a:solidFill>
                <a:latin typeface="Calibri"/>
              </a:rPr>
              <a:t>Idea and Motivation</a:t>
            </a:r>
          </a:p>
        </p:txBody>
      </p:sp>
      <p:sp>
        <p:nvSpPr>
          <p:cNvPr id="4" name="IdeaBg"/>
          <p:cNvSpPr/>
          <p:nvPr/>
        </p:nvSpPr>
        <p:spPr>
          <a:xfrm>
            <a:off x="223520" y="685800"/>
            <a:ext cx="4074160" cy="4251960"/>
          </a:xfrm>
          <a:prstGeom prst="roundRect">
            <a:avLst>
              <a:gd name="adj" fmla="val 20000"/>
            </a:avLst>
          </a:prstGeom>
          <a:solidFill>
            <a:srgbClr val="1B2A3B"/>
          </a:solidFill>
          <a:ln w="19050">
            <a:solidFill>
              <a:srgbClr val="00D4FF"/>
            </a:solidFill>
          </a:ln>
        </p:spPr>
        <p:txBody>
          <a:bodyPr/>
          <a:lstStyle/>
          <a:p>
            <a:endParaRPr lang="en-US" dirty="0"/>
          </a:p>
        </p:txBody>
      </p:sp>
      <p:sp>
        <p:nvSpPr>
          <p:cNvPr id="5" name="IdeaText"/>
          <p:cNvSpPr/>
          <p:nvPr/>
        </p:nvSpPr>
        <p:spPr>
          <a:xfrm>
            <a:off x="411480" y="890280"/>
            <a:ext cx="3749040" cy="3980400"/>
          </a:xfrm>
          <a:prstGeom prst="rect">
            <a:avLst/>
          </a:prstGeom>
          <a:noFill/>
          <a:ln/>
        </p:spPr>
        <p:txBody>
          <a:bodyPr wrap="square" rtlCol="0" anchor="t"/>
          <a:lstStyle/>
          <a:p>
            <a:r>
              <a:rPr lang="en-US" sz="1600" b="1" dirty="0">
                <a:solidFill>
                  <a:srgbClr val="00D4FF"/>
                </a:solidFill>
                <a:latin typeface="Calibri"/>
              </a:rPr>
              <a:t>The Idea</a:t>
            </a:r>
          </a:p>
          <a:p>
            <a:endParaRPr lang="en-US" sz="700" dirty="0"/>
          </a:p>
          <a:p>
            <a:r>
              <a:rPr lang="en-US" sz="1300" dirty="0">
                <a:solidFill>
                  <a:srgbClr val="FFFFFF"/>
                </a:solidFill>
                <a:latin typeface="Calibri"/>
              </a:rPr>
              <a:t>To Build a smart entry system that automatically checks both identity and body temperature before allowing access.</a:t>
            </a:r>
          </a:p>
          <a:p>
            <a:endParaRPr lang="en-US" sz="700" dirty="0"/>
          </a:p>
          <a:p>
            <a:r>
              <a:rPr lang="en-US" sz="1300" dirty="0">
                <a:solidFill>
                  <a:srgbClr val="AABBCC"/>
                </a:solidFill>
                <a:latin typeface="Calibri"/>
              </a:rPr>
              <a:t>Scan RFID card &gt; Check ID &gt; Measure temperature &gt; Allow or deny entry automatically.</a:t>
            </a:r>
          </a:p>
          <a:p>
            <a:endParaRPr lang="en-US" sz="700" dirty="0"/>
          </a:p>
          <a:p>
            <a:r>
              <a:rPr lang="en-US" sz="1300" dirty="0">
                <a:solidFill>
                  <a:srgbClr val="AABBCC"/>
                </a:solidFill>
                <a:latin typeface="Calibri"/>
              </a:rPr>
              <a:t>All records are logged and viewable on a phone via WiFi in real time.</a:t>
            </a:r>
            <a:br>
              <a:rPr lang="en-US" sz="1300" dirty="0">
                <a:solidFill>
                  <a:srgbClr val="AABBCC"/>
                </a:solidFill>
              </a:rPr>
            </a:br>
            <a:br>
              <a:rPr lang="en-US" sz="1300" dirty="0">
                <a:solidFill>
                  <a:srgbClr val="AABBCC"/>
                </a:solidFill>
              </a:rPr>
            </a:br>
            <a:r>
              <a:rPr lang="en-US" sz="1300" dirty="0">
                <a:solidFill>
                  <a:srgbClr val="AABBCC"/>
                </a:solidFill>
              </a:rPr>
              <a:t>Another important advantage is efficiency. Manual attendance takes time and can lead to errors. Similarly, manual temperature checks require extra manpower. This system reduces human effort, minimizes contact, and speeds up the entire process.</a:t>
            </a:r>
            <a:endParaRPr lang="en-US" sz="1300" dirty="0">
              <a:solidFill>
                <a:srgbClr val="AABBCC"/>
              </a:solidFill>
              <a:latin typeface="Calibri"/>
            </a:endParaRPr>
          </a:p>
        </p:txBody>
      </p:sp>
      <p:sp>
        <p:nvSpPr>
          <p:cNvPr id="6" name="MotivBg"/>
          <p:cNvSpPr/>
          <p:nvPr/>
        </p:nvSpPr>
        <p:spPr>
          <a:xfrm>
            <a:off x="4693920" y="758952"/>
            <a:ext cx="4175760" cy="4178808"/>
          </a:xfrm>
          <a:prstGeom prst="roundRect">
            <a:avLst>
              <a:gd name="adj" fmla="val 20000"/>
            </a:avLst>
          </a:prstGeom>
          <a:solidFill>
            <a:srgbClr val="1B2A3B"/>
          </a:solidFill>
          <a:ln w="19050">
            <a:solidFill>
              <a:srgbClr val="00FF88"/>
            </a:solidFill>
          </a:ln>
        </p:spPr>
        <p:txBody>
          <a:bodyPr/>
          <a:lstStyle/>
          <a:p>
            <a:endParaRPr lang="en-US" dirty="0"/>
          </a:p>
        </p:txBody>
      </p:sp>
      <p:sp>
        <p:nvSpPr>
          <p:cNvPr id="7" name="MotivText"/>
          <p:cNvSpPr/>
          <p:nvPr/>
        </p:nvSpPr>
        <p:spPr>
          <a:xfrm>
            <a:off x="4983480" y="890280"/>
            <a:ext cx="3749040" cy="3980400"/>
          </a:xfrm>
          <a:prstGeom prst="rect">
            <a:avLst/>
          </a:prstGeom>
          <a:noFill/>
          <a:ln/>
        </p:spPr>
        <p:txBody>
          <a:bodyPr wrap="square" rtlCol="0" anchor="t"/>
          <a:lstStyle/>
          <a:p>
            <a:r>
              <a:rPr lang="en-US" sz="1600" b="1" dirty="0">
                <a:solidFill>
                  <a:srgbClr val="00FF88"/>
                </a:solidFill>
                <a:latin typeface="Calibri"/>
              </a:rPr>
              <a:t>Why We Built This</a:t>
            </a:r>
          </a:p>
          <a:p>
            <a:endParaRPr lang="en-US" sz="700" dirty="0"/>
          </a:p>
          <a:p>
            <a:r>
              <a:rPr lang="en-US" sz="1300" dirty="0">
                <a:solidFill>
                  <a:srgbClr val="FFFFFF"/>
                </a:solidFill>
                <a:latin typeface="Calibri"/>
              </a:rPr>
              <a:t>During COVID-19, every office, hospital and school needed manual thermal screening at entry — slow, error-prone and needed extra staff.</a:t>
            </a:r>
          </a:p>
          <a:p>
            <a:endParaRPr lang="en-US" sz="700" dirty="0"/>
          </a:p>
          <a:p>
            <a:r>
              <a:rPr lang="en-US" sz="1300" dirty="0">
                <a:solidFill>
                  <a:srgbClr val="AABBCC"/>
                </a:solidFill>
                <a:latin typeface="Calibri"/>
              </a:rPr>
              <a:t>Our system replaces manual screening with an automated, contactless solution using low-cost electronics.</a:t>
            </a:r>
          </a:p>
          <a:p>
            <a:endParaRPr lang="en-US" sz="700" dirty="0"/>
          </a:p>
          <a:p>
            <a:r>
              <a:rPr lang="en-US" sz="1300" dirty="0">
                <a:solidFill>
                  <a:srgbClr val="AABBCC"/>
                </a:solidFill>
              </a:rPr>
              <a:t>The main motivation behind this project is to create a low-cost and easily deployable solution. It can be installed at multiple entry points, making it highly useful for schools, colleges, offices, and even public institutions. Instead of having separate systems for attendance and health checks, this integrated approach simplifies the process</a:t>
            </a:r>
            <a:endParaRPr lang="en-US" sz="1300" dirty="0">
              <a:solidFill>
                <a:srgbClr val="AABBCC"/>
              </a:solidFill>
              <a:latin typeface="Calibri"/>
            </a:endParaRPr>
          </a:p>
          <a:p>
            <a:endParaRPr lang="en-US" sz="1300" dirty="0">
              <a:solidFill>
                <a:srgbClr val="AABBCC"/>
              </a:solidFill>
              <a:latin typeface="Calibri"/>
            </a:endParaRPr>
          </a:p>
        </p:txBody>
      </p:sp>
      <p:sp>
        <p:nvSpPr>
          <p:cNvPr id="8" name="BotBar"/>
          <p:cNvSpPr/>
          <p:nvPr/>
        </p:nvSpPr>
        <p:spPr>
          <a:xfrm>
            <a:off x="0" y="5029200"/>
            <a:ext cx="9144000" cy="114300"/>
          </a:xfrm>
          <a:prstGeom prst="rect">
            <a:avLst/>
          </a:prstGeom>
          <a:solidFill>
            <a:srgbClr val="1B2A3B"/>
          </a:solidFill>
          <a:ln>
            <a:noFill/>
          </a:ln>
        </p:spPr>
        <p:txBody>
          <a:bodyPr wrap="square" rtlCol="0" anchor="ctr"/>
          <a:lstStyle/>
          <a:p>
            <a:pPr algn="ctr"/>
            <a:r>
              <a:rPr lang="en-US" sz="900" dirty="0">
                <a:solidFill>
                  <a:srgbClr val="8899AA"/>
                </a:solidFill>
              </a:rPr>
              <a:t>ECL211 Project  |  Department of Electronics and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FF"/>
          </a:solidFill>
          <a:ln w="12700">
            <a:solidFill>
              <a:srgbClr val="00D4FF"/>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lgn="ctr">
              <a:buNone/>
            </a:pPr>
            <a:r>
              <a:rPr lang="en-US" sz="2600" b="1" dirty="0">
                <a:solidFill>
                  <a:srgbClr val="FFFFFF"/>
                </a:solidFill>
              </a:rPr>
              <a:t>System Block Diagram</a:t>
            </a:r>
            <a:endParaRPr lang="en-US" sz="2600" dirty="0"/>
          </a:p>
        </p:txBody>
      </p:sp>
      <p:sp>
        <p:nvSpPr>
          <p:cNvPr id="4" name="Shape 2"/>
          <p:cNvSpPr/>
          <p:nvPr/>
        </p:nvSpPr>
        <p:spPr>
          <a:xfrm>
            <a:off x="274320" y="1005840"/>
            <a:ext cx="1645920" cy="777240"/>
          </a:xfrm>
          <a:prstGeom prst="roundRect">
            <a:avLst>
              <a:gd name="adj" fmla="val 11765"/>
            </a:avLst>
          </a:prstGeom>
          <a:solidFill>
            <a:srgbClr val="1B2A3B"/>
          </a:solidFill>
          <a:ln w="25400">
            <a:solidFill>
              <a:srgbClr val="00D4FF"/>
            </a:solidFill>
            <a:prstDash val="solid"/>
          </a:ln>
        </p:spPr>
      </p:sp>
      <p:sp>
        <p:nvSpPr>
          <p:cNvPr id="5" name="Shape 3"/>
          <p:cNvSpPr/>
          <p:nvPr/>
        </p:nvSpPr>
        <p:spPr>
          <a:xfrm>
            <a:off x="274320" y="1005840"/>
            <a:ext cx="1645920" cy="27432"/>
          </a:xfrm>
          <a:prstGeom prst="rect">
            <a:avLst/>
          </a:prstGeom>
          <a:solidFill>
            <a:srgbClr val="00D4FF"/>
          </a:solidFill>
          <a:ln w="12700">
            <a:solidFill>
              <a:srgbClr val="00D4FF"/>
            </a:solidFill>
            <a:prstDash val="solid"/>
          </a:ln>
        </p:spPr>
      </p:sp>
      <p:sp>
        <p:nvSpPr>
          <p:cNvPr id="6" name="Text 4"/>
          <p:cNvSpPr/>
          <p:nvPr/>
        </p:nvSpPr>
        <p:spPr>
          <a:xfrm>
            <a:off x="274320" y="1042416"/>
            <a:ext cx="1645920" cy="427482"/>
          </a:xfrm>
          <a:prstGeom prst="rect">
            <a:avLst/>
          </a:prstGeom>
          <a:noFill/>
          <a:ln/>
        </p:spPr>
        <p:txBody>
          <a:bodyPr wrap="square" rtlCol="0" anchor="ctr"/>
          <a:lstStyle/>
          <a:p>
            <a:pPr marL="0" indent="0" algn="ctr">
              <a:buNone/>
            </a:pPr>
            <a:r>
              <a:rPr lang="en-US" sz="1100" b="1" dirty="0">
                <a:solidFill>
                  <a:srgbClr val="FFFFFF"/>
                </a:solidFill>
              </a:rPr>
              <a:t>RFID Sensor</a:t>
            </a:r>
            <a:endParaRPr lang="en-US" sz="1100" dirty="0"/>
          </a:p>
        </p:txBody>
      </p:sp>
      <p:sp>
        <p:nvSpPr>
          <p:cNvPr id="7" name="Text 5"/>
          <p:cNvSpPr/>
          <p:nvPr/>
        </p:nvSpPr>
        <p:spPr>
          <a:xfrm>
            <a:off x="274320" y="1433322"/>
            <a:ext cx="1645920" cy="310896"/>
          </a:xfrm>
          <a:prstGeom prst="rect">
            <a:avLst/>
          </a:prstGeom>
          <a:noFill/>
          <a:ln/>
        </p:spPr>
        <p:txBody>
          <a:bodyPr wrap="square" rtlCol="0" anchor="ctr"/>
          <a:lstStyle/>
          <a:p>
            <a:pPr marL="0" indent="0" algn="ctr">
              <a:buNone/>
            </a:pPr>
            <a:endParaRPr lang="en-US" sz="800" dirty="0"/>
          </a:p>
        </p:txBody>
      </p:sp>
      <p:sp>
        <p:nvSpPr>
          <p:cNvPr id="8" name="Shape 6"/>
          <p:cNvSpPr/>
          <p:nvPr/>
        </p:nvSpPr>
        <p:spPr>
          <a:xfrm>
            <a:off x="274320" y="2103120"/>
            <a:ext cx="1645920" cy="777240"/>
          </a:xfrm>
          <a:prstGeom prst="roundRect">
            <a:avLst>
              <a:gd name="adj" fmla="val 11765"/>
            </a:avLst>
          </a:prstGeom>
          <a:solidFill>
            <a:srgbClr val="1B2A3B"/>
          </a:solidFill>
          <a:ln w="25400">
            <a:solidFill>
              <a:srgbClr val="FFD700"/>
            </a:solidFill>
            <a:prstDash val="solid"/>
          </a:ln>
        </p:spPr>
      </p:sp>
      <p:sp>
        <p:nvSpPr>
          <p:cNvPr id="9" name="Shape 7"/>
          <p:cNvSpPr/>
          <p:nvPr/>
        </p:nvSpPr>
        <p:spPr>
          <a:xfrm>
            <a:off x="274320" y="2103120"/>
            <a:ext cx="1645920" cy="27432"/>
          </a:xfrm>
          <a:prstGeom prst="rect">
            <a:avLst/>
          </a:prstGeom>
          <a:solidFill>
            <a:srgbClr val="FFD700"/>
          </a:solidFill>
          <a:ln w="12700">
            <a:solidFill>
              <a:srgbClr val="FFD700"/>
            </a:solidFill>
            <a:prstDash val="solid"/>
          </a:ln>
        </p:spPr>
      </p:sp>
      <p:sp>
        <p:nvSpPr>
          <p:cNvPr id="10" name="Text 8"/>
          <p:cNvSpPr/>
          <p:nvPr/>
        </p:nvSpPr>
        <p:spPr>
          <a:xfrm>
            <a:off x="274320" y="2139696"/>
            <a:ext cx="1645920" cy="427482"/>
          </a:xfrm>
          <a:prstGeom prst="rect">
            <a:avLst/>
          </a:prstGeom>
          <a:noFill/>
          <a:ln/>
        </p:spPr>
        <p:txBody>
          <a:bodyPr wrap="square" rtlCol="0" anchor="ctr"/>
          <a:lstStyle/>
          <a:p>
            <a:pPr marL="0" indent="0" algn="ctr">
              <a:buNone/>
            </a:pPr>
            <a:r>
              <a:rPr lang="en-US" sz="1100" b="1" dirty="0">
                <a:solidFill>
                  <a:srgbClr val="FFFFFF"/>
                </a:solidFill>
              </a:rPr>
              <a:t>LM35 Sensor</a:t>
            </a:r>
            <a:endParaRPr lang="en-US" sz="1100" dirty="0"/>
          </a:p>
        </p:txBody>
      </p:sp>
      <p:sp>
        <p:nvSpPr>
          <p:cNvPr id="11" name="Text 9"/>
          <p:cNvSpPr/>
          <p:nvPr/>
        </p:nvSpPr>
        <p:spPr>
          <a:xfrm>
            <a:off x="274320" y="2530602"/>
            <a:ext cx="1645920" cy="310896"/>
          </a:xfrm>
          <a:prstGeom prst="rect">
            <a:avLst/>
          </a:prstGeom>
          <a:noFill/>
          <a:ln/>
        </p:spPr>
        <p:txBody>
          <a:bodyPr wrap="square" rtlCol="0" anchor="ctr"/>
          <a:lstStyle/>
          <a:p>
            <a:pPr marL="0" indent="0" algn="ctr">
              <a:buNone/>
            </a:pPr>
            <a:r>
              <a:rPr lang="en-US" sz="800" dirty="0">
                <a:solidFill>
                  <a:srgbClr val="FFD700"/>
                </a:solidFill>
              </a:rPr>
              <a:t>Analog Temp</a:t>
            </a:r>
            <a:endParaRPr lang="en-US" sz="800" dirty="0"/>
          </a:p>
        </p:txBody>
      </p:sp>
      <p:sp>
        <p:nvSpPr>
          <p:cNvPr id="12" name="Shape 10"/>
          <p:cNvSpPr/>
          <p:nvPr/>
        </p:nvSpPr>
        <p:spPr>
          <a:xfrm flipV="1">
            <a:off x="3383280" y="1426464"/>
            <a:ext cx="2286000" cy="1892808"/>
          </a:xfrm>
          <a:prstGeom prst="roundRect">
            <a:avLst>
              <a:gd name="adj" fmla="val 10000"/>
            </a:avLst>
          </a:prstGeom>
          <a:solidFill>
            <a:srgbClr val="1B2A3B"/>
          </a:solidFill>
          <a:ln w="25400">
            <a:solidFill>
              <a:srgbClr val="BB00FF"/>
            </a:solidFill>
            <a:prstDash val="solid"/>
          </a:ln>
        </p:spPr>
        <p:txBody>
          <a:bodyPr/>
          <a:lstStyle/>
          <a:p>
            <a:endParaRPr lang="en-IN" dirty="0"/>
          </a:p>
        </p:txBody>
      </p:sp>
      <p:sp>
        <p:nvSpPr>
          <p:cNvPr id="14" name="Text 12"/>
          <p:cNvSpPr/>
          <p:nvPr/>
        </p:nvSpPr>
        <p:spPr>
          <a:xfrm>
            <a:off x="3318429" y="1371600"/>
            <a:ext cx="2286000" cy="457200"/>
          </a:xfrm>
          <a:prstGeom prst="rect">
            <a:avLst/>
          </a:prstGeom>
          <a:noFill/>
          <a:ln/>
        </p:spPr>
        <p:txBody>
          <a:bodyPr wrap="square" rtlCol="0" anchor="ctr"/>
          <a:lstStyle/>
          <a:p>
            <a:pPr marL="0" indent="0" algn="ctr">
              <a:buNone/>
            </a:pPr>
            <a:endParaRPr lang="en-US" sz="2400" b="1" dirty="0">
              <a:solidFill>
                <a:srgbClr val="FFFFFF"/>
              </a:solidFill>
            </a:endParaRPr>
          </a:p>
          <a:p>
            <a:pPr marL="0" indent="0" algn="ctr">
              <a:buNone/>
            </a:pPr>
            <a:endParaRPr lang="en-US" sz="2400" b="1" dirty="0">
              <a:solidFill>
                <a:srgbClr val="FFFFFF"/>
              </a:solidFill>
            </a:endParaRPr>
          </a:p>
          <a:p>
            <a:pPr marL="0" indent="0" algn="ctr">
              <a:buNone/>
            </a:pPr>
            <a:endParaRPr lang="en-US" sz="2400" b="1" dirty="0">
              <a:solidFill>
                <a:srgbClr val="FFFFFF"/>
              </a:solidFill>
            </a:endParaRPr>
          </a:p>
          <a:p>
            <a:pPr marL="0" indent="0" algn="ctr">
              <a:buNone/>
            </a:pPr>
            <a:endParaRPr lang="en-US" sz="2400" b="1" dirty="0">
              <a:solidFill>
                <a:srgbClr val="FFFFFF"/>
              </a:solidFill>
            </a:endParaRPr>
          </a:p>
          <a:p>
            <a:pPr marL="0" indent="0" algn="ctr">
              <a:buNone/>
            </a:pPr>
            <a:r>
              <a:rPr lang="en-US" sz="3600" b="1" dirty="0">
                <a:solidFill>
                  <a:srgbClr val="FFFFFF"/>
                </a:solidFill>
              </a:rPr>
              <a:t>Arduino Uno</a:t>
            </a:r>
            <a:endParaRPr lang="en-US" sz="3600" dirty="0"/>
          </a:p>
        </p:txBody>
      </p:sp>
      <p:sp>
        <p:nvSpPr>
          <p:cNvPr id="15" name="Text 13"/>
          <p:cNvSpPr/>
          <p:nvPr/>
        </p:nvSpPr>
        <p:spPr>
          <a:xfrm>
            <a:off x="3383280" y="1874520"/>
            <a:ext cx="2286000" cy="365760"/>
          </a:xfrm>
          <a:prstGeom prst="rect">
            <a:avLst/>
          </a:prstGeom>
          <a:noFill/>
          <a:ln/>
        </p:spPr>
        <p:txBody>
          <a:bodyPr wrap="square" rtlCol="0" anchor="ctr"/>
          <a:lstStyle/>
          <a:p>
            <a:pPr marL="0" indent="0" algn="ctr">
              <a:buNone/>
            </a:pPr>
            <a:endParaRPr lang="en-US" sz="800" dirty="0"/>
          </a:p>
        </p:txBody>
      </p:sp>
      <p:sp>
        <p:nvSpPr>
          <p:cNvPr id="16" name="Shape 14"/>
          <p:cNvSpPr/>
          <p:nvPr/>
        </p:nvSpPr>
        <p:spPr>
          <a:xfrm>
            <a:off x="1920240" y="1417320"/>
            <a:ext cx="1463040" cy="411480"/>
          </a:xfrm>
          <a:prstGeom prst="line">
            <a:avLst/>
          </a:prstGeom>
          <a:noFill/>
          <a:ln w="19050">
            <a:solidFill>
              <a:srgbClr val="00D4FF"/>
            </a:solidFill>
            <a:prstDash val="solid"/>
            <a:tailEnd type="arrow"/>
          </a:ln>
        </p:spPr>
      </p:sp>
      <p:sp>
        <p:nvSpPr>
          <p:cNvPr id="17" name="Shape 15"/>
          <p:cNvSpPr/>
          <p:nvPr/>
        </p:nvSpPr>
        <p:spPr>
          <a:xfrm>
            <a:off x="1920240" y="2388870"/>
            <a:ext cx="1463040" cy="0"/>
          </a:xfrm>
          <a:prstGeom prst="line">
            <a:avLst/>
          </a:prstGeom>
          <a:noFill/>
          <a:ln w="19050">
            <a:solidFill>
              <a:srgbClr val="FFD700"/>
            </a:solidFill>
            <a:prstDash val="solid"/>
            <a:tailEnd type="arrow"/>
          </a:ln>
        </p:spPr>
      </p:sp>
      <p:sp>
        <p:nvSpPr>
          <p:cNvPr id="18" name="Shape 16"/>
          <p:cNvSpPr/>
          <p:nvPr/>
        </p:nvSpPr>
        <p:spPr>
          <a:xfrm>
            <a:off x="6583680" y="822960"/>
            <a:ext cx="1645920" cy="731520"/>
          </a:xfrm>
          <a:prstGeom prst="roundRect">
            <a:avLst>
              <a:gd name="adj" fmla="val 12500"/>
            </a:avLst>
          </a:prstGeom>
          <a:solidFill>
            <a:srgbClr val="1B2A3B"/>
          </a:solidFill>
          <a:ln w="25400">
            <a:solidFill>
              <a:srgbClr val="00DDAA"/>
            </a:solidFill>
            <a:prstDash val="solid"/>
          </a:ln>
        </p:spPr>
      </p:sp>
      <p:sp>
        <p:nvSpPr>
          <p:cNvPr id="19" name="Shape 17"/>
          <p:cNvSpPr/>
          <p:nvPr/>
        </p:nvSpPr>
        <p:spPr>
          <a:xfrm>
            <a:off x="6583680" y="822960"/>
            <a:ext cx="1645920" cy="27432"/>
          </a:xfrm>
          <a:prstGeom prst="rect">
            <a:avLst/>
          </a:prstGeom>
          <a:solidFill>
            <a:srgbClr val="00DDAA"/>
          </a:solidFill>
          <a:ln w="12700">
            <a:solidFill>
              <a:srgbClr val="00DDAA"/>
            </a:solidFill>
            <a:prstDash val="solid"/>
          </a:ln>
        </p:spPr>
      </p:sp>
      <p:sp>
        <p:nvSpPr>
          <p:cNvPr id="20" name="Text 18"/>
          <p:cNvSpPr/>
          <p:nvPr/>
        </p:nvSpPr>
        <p:spPr>
          <a:xfrm>
            <a:off x="6583680" y="859536"/>
            <a:ext cx="1645920" cy="402336"/>
          </a:xfrm>
          <a:prstGeom prst="rect">
            <a:avLst/>
          </a:prstGeom>
          <a:noFill/>
          <a:ln/>
        </p:spPr>
        <p:txBody>
          <a:bodyPr wrap="square" rtlCol="0" anchor="ctr"/>
          <a:lstStyle/>
          <a:p>
            <a:pPr marL="0" indent="0" algn="ctr">
              <a:buNone/>
            </a:pPr>
            <a:r>
              <a:rPr lang="en-US" sz="1100" b="1" dirty="0">
                <a:solidFill>
                  <a:srgbClr val="FFFFFF"/>
                </a:solidFill>
              </a:rPr>
              <a:t>LCD 16x2</a:t>
            </a:r>
            <a:endParaRPr lang="en-US" sz="1100" dirty="0"/>
          </a:p>
        </p:txBody>
      </p:sp>
      <p:sp>
        <p:nvSpPr>
          <p:cNvPr id="21" name="Text 19"/>
          <p:cNvSpPr/>
          <p:nvPr/>
        </p:nvSpPr>
        <p:spPr>
          <a:xfrm>
            <a:off x="6583680" y="1225296"/>
            <a:ext cx="1645920" cy="292608"/>
          </a:xfrm>
          <a:prstGeom prst="rect">
            <a:avLst/>
          </a:prstGeom>
          <a:noFill/>
          <a:ln/>
        </p:spPr>
        <p:txBody>
          <a:bodyPr wrap="square" rtlCol="0" anchor="ctr"/>
          <a:lstStyle/>
          <a:p>
            <a:pPr marL="0" indent="0" algn="ctr">
              <a:buNone/>
            </a:pPr>
            <a:endParaRPr lang="en-US" sz="800" dirty="0"/>
          </a:p>
        </p:txBody>
      </p:sp>
      <p:sp>
        <p:nvSpPr>
          <p:cNvPr id="22" name="Shape 20"/>
          <p:cNvSpPr/>
          <p:nvPr/>
        </p:nvSpPr>
        <p:spPr>
          <a:xfrm>
            <a:off x="6583680" y="1737360"/>
            <a:ext cx="1645920" cy="685800"/>
          </a:xfrm>
          <a:prstGeom prst="roundRect">
            <a:avLst>
              <a:gd name="adj" fmla="val 13333"/>
            </a:avLst>
          </a:prstGeom>
          <a:solidFill>
            <a:srgbClr val="1B2A3B"/>
          </a:solidFill>
          <a:ln w="25400">
            <a:solidFill>
              <a:srgbClr val="00FF88"/>
            </a:solidFill>
            <a:prstDash val="solid"/>
          </a:ln>
        </p:spPr>
      </p:sp>
      <p:sp>
        <p:nvSpPr>
          <p:cNvPr id="23" name="Shape 21"/>
          <p:cNvSpPr/>
          <p:nvPr/>
        </p:nvSpPr>
        <p:spPr>
          <a:xfrm>
            <a:off x="6583680" y="1737360"/>
            <a:ext cx="1645920" cy="27432"/>
          </a:xfrm>
          <a:prstGeom prst="rect">
            <a:avLst/>
          </a:prstGeom>
          <a:solidFill>
            <a:srgbClr val="00FF88"/>
          </a:solidFill>
          <a:ln w="12700">
            <a:solidFill>
              <a:srgbClr val="00FF88"/>
            </a:solidFill>
            <a:prstDash val="solid"/>
          </a:ln>
        </p:spPr>
      </p:sp>
      <p:sp>
        <p:nvSpPr>
          <p:cNvPr id="24" name="Text 22"/>
          <p:cNvSpPr/>
          <p:nvPr/>
        </p:nvSpPr>
        <p:spPr>
          <a:xfrm>
            <a:off x="6583680" y="1773936"/>
            <a:ext cx="1645920" cy="377190"/>
          </a:xfrm>
          <a:prstGeom prst="rect">
            <a:avLst/>
          </a:prstGeom>
          <a:noFill/>
          <a:ln/>
        </p:spPr>
        <p:txBody>
          <a:bodyPr wrap="square" rtlCol="0" anchor="ctr"/>
          <a:lstStyle/>
          <a:p>
            <a:pPr marL="0" indent="0" algn="ctr">
              <a:buNone/>
            </a:pPr>
            <a:r>
              <a:rPr lang="en-US" sz="1100" b="1" dirty="0">
                <a:solidFill>
                  <a:srgbClr val="FFFFFF"/>
                </a:solidFill>
              </a:rPr>
              <a:t>Green LED</a:t>
            </a:r>
            <a:endParaRPr lang="en-US" sz="1100" dirty="0"/>
          </a:p>
        </p:txBody>
      </p:sp>
      <p:sp>
        <p:nvSpPr>
          <p:cNvPr id="25" name="Text 23"/>
          <p:cNvSpPr/>
          <p:nvPr/>
        </p:nvSpPr>
        <p:spPr>
          <a:xfrm>
            <a:off x="6583680" y="2114550"/>
            <a:ext cx="1645920" cy="274320"/>
          </a:xfrm>
          <a:prstGeom prst="rect">
            <a:avLst/>
          </a:prstGeom>
          <a:noFill/>
          <a:ln/>
        </p:spPr>
        <p:txBody>
          <a:bodyPr wrap="square" rtlCol="0" anchor="ctr"/>
          <a:lstStyle/>
          <a:p>
            <a:pPr marL="0" indent="0" algn="ctr">
              <a:buNone/>
            </a:pPr>
            <a:r>
              <a:rPr lang="en-US" sz="800" dirty="0">
                <a:solidFill>
                  <a:srgbClr val="00FF88"/>
                </a:solidFill>
              </a:rPr>
              <a:t>Access Granted</a:t>
            </a:r>
            <a:endParaRPr lang="en-US" sz="800" dirty="0"/>
          </a:p>
        </p:txBody>
      </p:sp>
      <p:sp>
        <p:nvSpPr>
          <p:cNvPr id="26" name="Shape 24"/>
          <p:cNvSpPr/>
          <p:nvPr/>
        </p:nvSpPr>
        <p:spPr>
          <a:xfrm>
            <a:off x="6583680" y="2606040"/>
            <a:ext cx="1645920" cy="685800"/>
          </a:xfrm>
          <a:prstGeom prst="roundRect">
            <a:avLst>
              <a:gd name="adj" fmla="val 13333"/>
            </a:avLst>
          </a:prstGeom>
          <a:solidFill>
            <a:srgbClr val="1B2A3B"/>
          </a:solidFill>
          <a:ln w="25400">
            <a:solidFill>
              <a:srgbClr val="FF4444"/>
            </a:solidFill>
            <a:prstDash val="solid"/>
          </a:ln>
        </p:spPr>
      </p:sp>
      <p:sp>
        <p:nvSpPr>
          <p:cNvPr id="27" name="Shape 25"/>
          <p:cNvSpPr/>
          <p:nvPr/>
        </p:nvSpPr>
        <p:spPr>
          <a:xfrm>
            <a:off x="6583680" y="2606040"/>
            <a:ext cx="1645920" cy="27432"/>
          </a:xfrm>
          <a:prstGeom prst="rect">
            <a:avLst/>
          </a:prstGeom>
          <a:solidFill>
            <a:srgbClr val="FF4444"/>
          </a:solidFill>
          <a:ln w="12700">
            <a:solidFill>
              <a:srgbClr val="FF4444"/>
            </a:solidFill>
            <a:prstDash val="solid"/>
          </a:ln>
        </p:spPr>
      </p:sp>
      <p:sp>
        <p:nvSpPr>
          <p:cNvPr id="28" name="Text 26"/>
          <p:cNvSpPr/>
          <p:nvPr/>
        </p:nvSpPr>
        <p:spPr>
          <a:xfrm>
            <a:off x="6583680" y="2642616"/>
            <a:ext cx="1645920" cy="377190"/>
          </a:xfrm>
          <a:prstGeom prst="rect">
            <a:avLst/>
          </a:prstGeom>
          <a:noFill/>
          <a:ln/>
        </p:spPr>
        <p:txBody>
          <a:bodyPr wrap="square" rtlCol="0" anchor="ctr"/>
          <a:lstStyle/>
          <a:p>
            <a:pPr marL="0" indent="0" algn="ctr">
              <a:buNone/>
            </a:pPr>
            <a:r>
              <a:rPr lang="en-US" sz="1100" b="1" dirty="0">
                <a:solidFill>
                  <a:srgbClr val="FFFFFF"/>
                </a:solidFill>
              </a:rPr>
              <a:t>Red LED</a:t>
            </a:r>
            <a:endParaRPr lang="en-US" sz="1100" dirty="0"/>
          </a:p>
        </p:txBody>
      </p:sp>
      <p:sp>
        <p:nvSpPr>
          <p:cNvPr id="29" name="Text 27"/>
          <p:cNvSpPr/>
          <p:nvPr/>
        </p:nvSpPr>
        <p:spPr>
          <a:xfrm>
            <a:off x="6583680" y="2983230"/>
            <a:ext cx="1645920" cy="274320"/>
          </a:xfrm>
          <a:prstGeom prst="rect">
            <a:avLst/>
          </a:prstGeom>
          <a:noFill/>
          <a:ln/>
        </p:spPr>
        <p:txBody>
          <a:bodyPr wrap="square" rtlCol="0" anchor="ctr"/>
          <a:lstStyle/>
          <a:p>
            <a:pPr marL="0" indent="0" algn="ctr">
              <a:buNone/>
            </a:pPr>
            <a:r>
              <a:rPr lang="en-US" sz="800" dirty="0">
                <a:solidFill>
                  <a:srgbClr val="FF4444"/>
                </a:solidFill>
              </a:rPr>
              <a:t>Access Denied</a:t>
            </a:r>
            <a:endParaRPr lang="en-US" sz="800" dirty="0"/>
          </a:p>
        </p:txBody>
      </p:sp>
      <p:sp>
        <p:nvSpPr>
          <p:cNvPr id="30" name="Shape 28"/>
          <p:cNvSpPr/>
          <p:nvPr/>
        </p:nvSpPr>
        <p:spPr>
          <a:xfrm>
            <a:off x="6583680" y="3474720"/>
            <a:ext cx="1645920" cy="731520"/>
          </a:xfrm>
          <a:prstGeom prst="roundRect">
            <a:avLst>
              <a:gd name="adj" fmla="val 12500"/>
            </a:avLst>
          </a:prstGeom>
          <a:solidFill>
            <a:srgbClr val="1B2A3B"/>
          </a:solidFill>
          <a:ln w="25400">
            <a:solidFill>
              <a:srgbClr val="FF8800"/>
            </a:solidFill>
            <a:prstDash val="solid"/>
          </a:ln>
        </p:spPr>
      </p:sp>
      <p:sp>
        <p:nvSpPr>
          <p:cNvPr id="31" name="Shape 29"/>
          <p:cNvSpPr/>
          <p:nvPr/>
        </p:nvSpPr>
        <p:spPr>
          <a:xfrm>
            <a:off x="6583680" y="3474720"/>
            <a:ext cx="1645920" cy="27432"/>
          </a:xfrm>
          <a:prstGeom prst="rect">
            <a:avLst/>
          </a:prstGeom>
          <a:solidFill>
            <a:srgbClr val="FF8800"/>
          </a:solidFill>
          <a:ln w="12700">
            <a:solidFill>
              <a:srgbClr val="FF8800"/>
            </a:solidFill>
            <a:prstDash val="solid"/>
          </a:ln>
        </p:spPr>
      </p:sp>
      <p:sp>
        <p:nvSpPr>
          <p:cNvPr id="32" name="Text 30"/>
          <p:cNvSpPr/>
          <p:nvPr/>
        </p:nvSpPr>
        <p:spPr>
          <a:xfrm>
            <a:off x="6583680" y="3511296"/>
            <a:ext cx="1645920" cy="402336"/>
          </a:xfrm>
          <a:prstGeom prst="rect">
            <a:avLst/>
          </a:prstGeom>
          <a:noFill/>
          <a:ln/>
        </p:spPr>
        <p:txBody>
          <a:bodyPr wrap="square" rtlCol="0" anchor="ctr"/>
          <a:lstStyle/>
          <a:p>
            <a:pPr marL="0" indent="0" algn="ctr">
              <a:buNone/>
            </a:pPr>
            <a:r>
              <a:rPr lang="en-US" sz="1100" b="1" dirty="0">
                <a:solidFill>
                  <a:srgbClr val="FFFFFF"/>
                </a:solidFill>
              </a:rPr>
              <a:t>ESP8266</a:t>
            </a:r>
            <a:endParaRPr lang="en-US" sz="1100" dirty="0"/>
          </a:p>
        </p:txBody>
      </p:sp>
      <p:sp>
        <p:nvSpPr>
          <p:cNvPr id="33" name="Text 31"/>
          <p:cNvSpPr/>
          <p:nvPr/>
        </p:nvSpPr>
        <p:spPr>
          <a:xfrm>
            <a:off x="6583680" y="3877056"/>
            <a:ext cx="1645920" cy="292608"/>
          </a:xfrm>
          <a:prstGeom prst="rect">
            <a:avLst/>
          </a:prstGeom>
          <a:noFill/>
          <a:ln/>
        </p:spPr>
        <p:txBody>
          <a:bodyPr wrap="square" rtlCol="0" anchor="ctr"/>
          <a:lstStyle/>
          <a:p>
            <a:pPr marL="0" indent="0" algn="ctr">
              <a:buNone/>
            </a:pPr>
            <a:r>
              <a:rPr lang="en-US" sz="800" dirty="0">
                <a:solidFill>
                  <a:srgbClr val="FF8800"/>
                </a:solidFill>
              </a:rPr>
              <a:t>WiFi Web Server</a:t>
            </a:r>
            <a:endParaRPr lang="en-US" sz="800" dirty="0"/>
          </a:p>
        </p:txBody>
      </p:sp>
      <p:sp>
        <p:nvSpPr>
          <p:cNvPr id="34" name="Shape 32"/>
          <p:cNvSpPr/>
          <p:nvPr/>
        </p:nvSpPr>
        <p:spPr>
          <a:xfrm flipV="1">
            <a:off x="5669280" y="1252728"/>
            <a:ext cx="914400" cy="393192"/>
          </a:xfrm>
          <a:prstGeom prst="line">
            <a:avLst/>
          </a:prstGeom>
          <a:noFill/>
          <a:ln w="19050">
            <a:solidFill>
              <a:srgbClr val="00DDAA"/>
            </a:solidFill>
            <a:prstDash val="solid"/>
            <a:tailEnd type="arrow"/>
          </a:ln>
        </p:spPr>
      </p:sp>
      <p:sp>
        <p:nvSpPr>
          <p:cNvPr id="35" name="Shape 33"/>
          <p:cNvSpPr/>
          <p:nvPr/>
        </p:nvSpPr>
        <p:spPr>
          <a:xfrm>
            <a:off x="5669280" y="1783080"/>
            <a:ext cx="914400" cy="274320"/>
          </a:xfrm>
          <a:prstGeom prst="line">
            <a:avLst/>
          </a:prstGeom>
          <a:noFill/>
          <a:ln w="19050">
            <a:solidFill>
              <a:srgbClr val="00FF88"/>
            </a:solidFill>
            <a:prstDash val="solid"/>
            <a:tailEnd type="arrow"/>
          </a:ln>
        </p:spPr>
      </p:sp>
      <p:sp>
        <p:nvSpPr>
          <p:cNvPr id="36" name="Shape 34"/>
          <p:cNvSpPr/>
          <p:nvPr/>
        </p:nvSpPr>
        <p:spPr>
          <a:xfrm>
            <a:off x="5669280" y="1920240"/>
            <a:ext cx="914400" cy="1005840"/>
          </a:xfrm>
          <a:prstGeom prst="line">
            <a:avLst/>
          </a:prstGeom>
          <a:noFill/>
          <a:ln w="19050">
            <a:solidFill>
              <a:srgbClr val="FF4444"/>
            </a:solidFill>
            <a:prstDash val="solid"/>
            <a:tailEnd type="arrow"/>
          </a:ln>
        </p:spPr>
      </p:sp>
      <p:sp>
        <p:nvSpPr>
          <p:cNvPr id="37" name="Shape 35"/>
          <p:cNvSpPr/>
          <p:nvPr/>
        </p:nvSpPr>
        <p:spPr>
          <a:xfrm>
            <a:off x="5669280" y="2178558"/>
            <a:ext cx="914400" cy="1783080"/>
          </a:xfrm>
          <a:prstGeom prst="line">
            <a:avLst/>
          </a:prstGeom>
          <a:noFill/>
          <a:ln w="19050">
            <a:solidFill>
              <a:srgbClr val="FF8800"/>
            </a:solidFill>
            <a:prstDash val="solid"/>
            <a:tailEnd type="arrow"/>
          </a:ln>
        </p:spPr>
      </p:sp>
      <p:sp>
        <p:nvSpPr>
          <p:cNvPr id="38" name="Shape 36"/>
          <p:cNvSpPr/>
          <p:nvPr/>
        </p:nvSpPr>
        <p:spPr>
          <a:xfrm>
            <a:off x="6583680" y="4389120"/>
            <a:ext cx="1645920" cy="594360"/>
          </a:xfrm>
          <a:prstGeom prst="roundRect">
            <a:avLst>
              <a:gd name="adj" fmla="val 15385"/>
            </a:avLst>
          </a:prstGeom>
          <a:solidFill>
            <a:srgbClr val="1B2A3B"/>
          </a:solidFill>
          <a:ln w="25400">
            <a:solidFill>
              <a:srgbClr val="FF8800"/>
            </a:solidFill>
            <a:prstDash val="solid"/>
          </a:ln>
        </p:spPr>
      </p:sp>
      <p:sp>
        <p:nvSpPr>
          <p:cNvPr id="39" name="Shape 37"/>
          <p:cNvSpPr/>
          <p:nvPr/>
        </p:nvSpPr>
        <p:spPr>
          <a:xfrm>
            <a:off x="6583680" y="4389120"/>
            <a:ext cx="1645920" cy="27432"/>
          </a:xfrm>
          <a:prstGeom prst="rect">
            <a:avLst/>
          </a:prstGeom>
          <a:solidFill>
            <a:srgbClr val="FF8800"/>
          </a:solidFill>
          <a:ln w="12700">
            <a:solidFill>
              <a:srgbClr val="FF8800"/>
            </a:solidFill>
            <a:prstDash val="solid"/>
          </a:ln>
        </p:spPr>
      </p:sp>
      <p:sp>
        <p:nvSpPr>
          <p:cNvPr id="40" name="Text 38"/>
          <p:cNvSpPr/>
          <p:nvPr/>
        </p:nvSpPr>
        <p:spPr>
          <a:xfrm>
            <a:off x="6583680" y="4425696"/>
            <a:ext cx="1645920" cy="326898"/>
          </a:xfrm>
          <a:prstGeom prst="rect">
            <a:avLst/>
          </a:prstGeom>
          <a:noFill/>
          <a:ln/>
        </p:spPr>
        <p:txBody>
          <a:bodyPr wrap="square" rtlCol="0" anchor="ctr"/>
          <a:lstStyle/>
          <a:p>
            <a:pPr marL="0" indent="0" algn="ctr">
              <a:buNone/>
            </a:pPr>
            <a:r>
              <a:rPr lang="en-US" sz="1100" b="1" dirty="0">
                <a:solidFill>
                  <a:srgbClr val="FFFFFF"/>
                </a:solidFill>
              </a:rPr>
              <a:t>Mobile Phone</a:t>
            </a:r>
            <a:endParaRPr lang="en-US" sz="1100" dirty="0"/>
          </a:p>
        </p:txBody>
      </p:sp>
      <p:sp>
        <p:nvSpPr>
          <p:cNvPr id="41" name="Text 39"/>
          <p:cNvSpPr/>
          <p:nvPr/>
        </p:nvSpPr>
        <p:spPr>
          <a:xfrm>
            <a:off x="6583680" y="4716018"/>
            <a:ext cx="1645920" cy="237744"/>
          </a:xfrm>
          <a:prstGeom prst="rect">
            <a:avLst/>
          </a:prstGeom>
          <a:noFill/>
          <a:ln/>
        </p:spPr>
        <p:txBody>
          <a:bodyPr wrap="square" rtlCol="0" anchor="ctr"/>
          <a:lstStyle/>
          <a:p>
            <a:pPr marL="0" indent="0" algn="ctr">
              <a:buNone/>
            </a:pPr>
            <a:r>
              <a:rPr lang="en-US" sz="800" dirty="0">
                <a:solidFill>
                  <a:srgbClr val="FF8800"/>
                </a:solidFill>
              </a:rPr>
              <a:t>View via WiFi</a:t>
            </a:r>
            <a:endParaRPr lang="en-US" sz="800" dirty="0"/>
          </a:p>
        </p:txBody>
      </p:sp>
      <p:sp>
        <p:nvSpPr>
          <p:cNvPr id="42" name="Shape 40"/>
          <p:cNvSpPr/>
          <p:nvPr/>
        </p:nvSpPr>
        <p:spPr>
          <a:xfrm>
            <a:off x="7406640" y="4206240"/>
            <a:ext cx="0" cy="182880"/>
          </a:xfrm>
          <a:prstGeom prst="line">
            <a:avLst/>
          </a:prstGeom>
          <a:noFill/>
          <a:ln w="19050">
            <a:solidFill>
              <a:srgbClr val="FF8800"/>
            </a:solidFill>
            <a:prstDash val="solid"/>
            <a:tailEnd type="arrow"/>
          </a:ln>
        </p:spPr>
      </p:sp>
      <p:sp>
        <p:nvSpPr>
          <p:cNvPr id="43" name="Shape 41"/>
          <p:cNvSpPr/>
          <p:nvPr/>
        </p:nvSpPr>
        <p:spPr>
          <a:xfrm>
            <a:off x="274320" y="3200400"/>
            <a:ext cx="1645920" cy="640080"/>
          </a:xfrm>
          <a:prstGeom prst="rect">
            <a:avLst/>
          </a:prstGeom>
          <a:solidFill>
            <a:srgbClr val="221100"/>
          </a:solidFill>
          <a:ln w="12700">
            <a:solidFill>
              <a:srgbClr val="FF8800"/>
            </a:solidFill>
            <a:prstDash val="solid"/>
          </a:ln>
        </p:spPr>
      </p:sp>
      <p:sp>
        <p:nvSpPr>
          <p:cNvPr id="44" name="Text 42"/>
          <p:cNvSpPr/>
          <p:nvPr/>
        </p:nvSpPr>
        <p:spPr>
          <a:xfrm>
            <a:off x="274320" y="3200400"/>
            <a:ext cx="1645920" cy="640080"/>
          </a:xfrm>
          <a:prstGeom prst="rect">
            <a:avLst/>
          </a:prstGeom>
          <a:noFill/>
          <a:ln/>
        </p:spPr>
        <p:txBody>
          <a:bodyPr wrap="square" rtlCol="0" anchor="ctr"/>
          <a:lstStyle/>
          <a:p>
            <a:pPr marL="0" indent="0" algn="ctr">
              <a:buNone/>
            </a:pPr>
            <a:r>
              <a:rPr lang="en-US" sz="800" dirty="0">
                <a:solidFill>
                  <a:srgbClr val="FF8800"/>
                </a:solidFill>
              </a:rPr>
              <a:t>5V USB Power</a:t>
            </a:r>
            <a:endParaRPr lang="en-US" sz="800" dirty="0"/>
          </a:p>
          <a:p>
            <a:pPr marL="0" indent="0" algn="ctr">
              <a:buNone/>
            </a:pPr>
            <a:r>
              <a:rPr lang="en-US" sz="800" dirty="0">
                <a:solidFill>
                  <a:srgbClr val="FF8800"/>
                </a:solidFill>
              </a:rPr>
              <a:t>(from PC / Adapter)</a:t>
            </a:r>
            <a:endParaRPr lang="en-US" sz="800" dirty="0"/>
          </a:p>
        </p:txBody>
      </p:sp>
      <p:sp>
        <p:nvSpPr>
          <p:cNvPr id="45" name="Shape 43"/>
          <p:cNvSpPr/>
          <p:nvPr/>
        </p:nvSpPr>
        <p:spPr>
          <a:xfrm flipV="1">
            <a:off x="1920240" y="2942081"/>
            <a:ext cx="1452016" cy="484631"/>
          </a:xfrm>
          <a:prstGeom prst="line">
            <a:avLst/>
          </a:prstGeom>
          <a:noFill/>
          <a:ln w="19050">
            <a:solidFill>
              <a:srgbClr val="FF8800"/>
            </a:solidFill>
            <a:prstDash val="solid"/>
            <a:tailEnd type="arrow"/>
          </a:ln>
        </p:spPr>
      </p:sp>
      <p:sp>
        <p:nvSpPr>
          <p:cNvPr id="46" name="Shape 44"/>
          <p:cNvSpPr/>
          <p:nvPr/>
        </p:nvSpPr>
        <p:spPr>
          <a:xfrm>
            <a:off x="0" y="5029200"/>
            <a:ext cx="9144000" cy="114300"/>
          </a:xfrm>
          <a:prstGeom prst="rect">
            <a:avLst/>
          </a:prstGeom>
          <a:solidFill>
            <a:srgbClr val="1B2A3B"/>
          </a:solidFill>
          <a:ln w="12700">
            <a:solidFill>
              <a:srgbClr val="1B2A3B"/>
            </a:solidFill>
            <a:prstDash val="solid"/>
          </a:ln>
        </p:spPr>
      </p:sp>
      <p:sp>
        <p:nvSpPr>
          <p:cNvPr id="47" name="Text 45"/>
          <p:cNvSpPr/>
          <p:nvPr/>
        </p:nvSpPr>
        <p:spPr>
          <a:xfrm>
            <a:off x="0" y="5029200"/>
            <a:ext cx="9144000" cy="114300"/>
          </a:xfrm>
          <a:prstGeom prst="rect">
            <a:avLst/>
          </a:prstGeom>
          <a:noFill/>
          <a:ln/>
        </p:spPr>
        <p:txBody>
          <a:bodyPr wrap="square" rtlCol="0" anchor="ctr"/>
          <a:lstStyle/>
          <a:p>
            <a:pPr marL="0" indent="0" algn="ctr">
              <a:buNone/>
            </a:pPr>
            <a:r>
              <a:rPr lang="en-US" sz="900" dirty="0">
                <a:solidFill>
                  <a:srgbClr val="8899AA"/>
                </a:solidFill>
              </a:rPr>
              <a:t>Tip: Replace block labels with sensor images for your report!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457200" y="137160"/>
            <a:ext cx="8229600" cy="502920"/>
          </a:xfrm>
          <a:prstGeom prst="rect">
            <a:avLst/>
          </a:prstGeom>
          <a:noFill/>
          <a:ln/>
        </p:spPr>
        <p:txBody>
          <a:bodyPr wrap="square" rtlCol="0" anchor="ctr"/>
          <a:lstStyle/>
          <a:p>
            <a:pPr marL="0" indent="0" algn="ctr">
              <a:buNone/>
            </a:pPr>
            <a:r>
              <a:rPr lang="en-US" sz="2600" b="1" dirty="0">
                <a:solidFill>
                  <a:srgbClr val="FFFFFF"/>
                </a:solidFill>
              </a:rPr>
              <a:t>Pin Connection Table</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602108421"/>
              </p:ext>
            </p:extLst>
          </p:nvPr>
        </p:nvGraphicFramePr>
        <p:xfrm>
          <a:off x="274320" y="731520"/>
          <a:ext cx="8595360" cy="4389120"/>
        </p:xfrm>
        <a:graphic>
          <a:graphicData uri="http://schemas.openxmlformats.org/drawingml/2006/table">
            <a:tbl>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210312">
                <a:tc>
                  <a:txBody>
                    <a:bodyPr/>
                    <a:lstStyle/>
                    <a:p>
                      <a:pPr marL="0" indent="0" algn="ctr">
                        <a:buNone/>
                      </a:pPr>
                      <a:r>
                        <a:rPr lang="en-US" sz="1000" b="1" dirty="0">
                          <a:solidFill>
                            <a:srgbClr val="00D4FF"/>
                          </a:solidFill>
                          <a:latin typeface="Calibri" pitchFamily="34" charset="0"/>
                          <a:ea typeface="Calibri" pitchFamily="34" charset="-122"/>
                          <a:cs typeface="Calibri" pitchFamily="34" charset="-120"/>
                        </a:rPr>
                        <a:t>Component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b="1" dirty="0">
                          <a:solidFill>
                            <a:srgbClr val="00D4FF"/>
                          </a:solidFill>
                          <a:latin typeface="Calibri" pitchFamily="34" charset="0"/>
                          <a:ea typeface="Calibri" pitchFamily="34" charset="-122"/>
                          <a:cs typeface="Calibri" pitchFamily="34" charset="-120"/>
                        </a:rPr>
                        <a:t>Pin / Wire</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b="1" dirty="0">
                          <a:solidFill>
                            <a:srgbClr val="00D4FF"/>
                          </a:solidFill>
                          <a:latin typeface="Calibri" pitchFamily="34" charset="0"/>
                          <a:ea typeface="Calibri" pitchFamily="34" charset="-122"/>
                          <a:cs typeface="Calibri" pitchFamily="34" charset="-120"/>
                        </a:rPr>
                        <a:t>Arduino Pin</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b="1" dirty="0">
                          <a:solidFill>
                            <a:srgbClr val="00D4FF"/>
                          </a:solidFill>
                          <a:latin typeface="Calibri" pitchFamily="34" charset="0"/>
                          <a:ea typeface="Calibri" pitchFamily="34" charset="-122"/>
                          <a:cs typeface="Calibri" pitchFamily="34" charset="-120"/>
                        </a:rPr>
                        <a:t>Note</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0"/>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MFRC522 RFID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SDA</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10</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SPI SS</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1"/>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MFRC522 RFID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SCK</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13</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SPI Clock</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2"/>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MFRC522 RFID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MOSI</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11</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SPI Data Out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3"/>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MFRC522 RFID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MISO</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12</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SPI Data In</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4"/>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MFRC522 RFID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RST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9</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Reset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5"/>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MFRC522 RFID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3.3V / GND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3.3V / GND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Use 3.3V only!</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6"/>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LM35</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VCC / GND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5V / GND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7"/>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LM35</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OUT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A0</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Analog temp</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8"/>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LCD 16x2</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RS / EN</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2 / Pin 3</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4-bit mode</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09"/>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LCD 16x2</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D4-D7</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4, 5, 6, 7</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Data pins</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0"/>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LCD 16x2</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V0 (Pin 3)</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GND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Max contrast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1"/>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LCD 16x2</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 (Pin 15)</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5V via 220Ω</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Backlight</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2"/>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Green LED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Anode</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A1 via 220Ω</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Allow</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3"/>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Red LED</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Anode</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A2 via 220Ω</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Deny</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4"/>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ESP8266</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TX</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Pin 8 (RX)</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SoftSerial</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5"/>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ESP8266</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RX</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A3 via divider</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1kΩ + 2kΩ</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6"/>
                  </a:ext>
                </a:extLst>
              </a:tr>
              <a:tr h="210312">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ESP8266</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VCC </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3.3V</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NOT 5V!</a:t>
                      </a:r>
                      <a:endParaRPr lang="en-US" sz="1000" dirty="0">
                        <a:latin typeface="Calibri" charset="0"/>
                        <a:ea typeface="Calibri" charset="0"/>
                        <a:cs typeface="Calibri" charset="0"/>
                      </a:endParaRPr>
                    </a:p>
                  </a:txBody>
                  <a:tcPr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2A3B"/>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D2FC9F-AC7B-9EA6-490B-FA47137CB820}"/>
              </a:ext>
            </a:extLst>
          </p:cNvPr>
          <p:cNvPicPr>
            <a:picLocks noChangeAspect="1"/>
          </p:cNvPicPr>
          <p:nvPr/>
        </p:nvPicPr>
        <p:blipFill>
          <a:blip r:embed="rId2"/>
          <a:stretch>
            <a:fillRect/>
          </a:stretch>
        </p:blipFill>
        <p:spPr>
          <a:xfrm>
            <a:off x="112423" y="751338"/>
            <a:ext cx="2409297" cy="4371713"/>
          </a:xfrm>
          <a:prstGeom prst="rect">
            <a:avLst/>
          </a:prstGeom>
        </p:spPr>
      </p:pic>
      <p:pic>
        <p:nvPicPr>
          <p:cNvPr id="5" name="Picture 4">
            <a:extLst>
              <a:ext uri="{FF2B5EF4-FFF2-40B4-BE49-F238E27FC236}">
                <a16:creationId xmlns:a16="http://schemas.microsoft.com/office/drawing/2014/main" id="{EDF1726B-A824-7D0C-21C7-3B8A0031E290}"/>
              </a:ext>
            </a:extLst>
          </p:cNvPr>
          <p:cNvPicPr>
            <a:picLocks noChangeAspect="1"/>
          </p:cNvPicPr>
          <p:nvPr/>
        </p:nvPicPr>
        <p:blipFill>
          <a:blip r:embed="rId3"/>
          <a:stretch>
            <a:fillRect/>
          </a:stretch>
        </p:blipFill>
        <p:spPr>
          <a:xfrm>
            <a:off x="2667699" y="747716"/>
            <a:ext cx="2634143" cy="4395783"/>
          </a:xfrm>
          <a:prstGeom prst="rect">
            <a:avLst/>
          </a:prstGeom>
        </p:spPr>
      </p:pic>
      <p:cxnSp>
        <p:nvCxnSpPr>
          <p:cNvPr id="11" name="Straight Connector 10">
            <a:extLst>
              <a:ext uri="{FF2B5EF4-FFF2-40B4-BE49-F238E27FC236}">
                <a16:creationId xmlns:a16="http://schemas.microsoft.com/office/drawing/2014/main" id="{24A8DB8F-497D-B402-F854-D603BBD35A18}"/>
              </a:ext>
            </a:extLst>
          </p:cNvPr>
          <p:cNvCxnSpPr/>
          <p:nvPr/>
        </p:nvCxnSpPr>
        <p:spPr>
          <a:xfrm>
            <a:off x="5654180" y="0"/>
            <a:ext cx="0" cy="51230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2B3BBAB2-BFA4-4A13-E010-0E4E4F79C45A}"/>
              </a:ext>
            </a:extLst>
          </p:cNvPr>
          <p:cNvPicPr>
            <a:picLocks noChangeAspect="1"/>
          </p:cNvPicPr>
          <p:nvPr/>
        </p:nvPicPr>
        <p:blipFill>
          <a:blip r:embed="rId4"/>
          <a:stretch>
            <a:fillRect/>
          </a:stretch>
        </p:blipFill>
        <p:spPr>
          <a:xfrm>
            <a:off x="6012816" y="747715"/>
            <a:ext cx="2638324" cy="4416233"/>
          </a:xfrm>
          <a:prstGeom prst="rect">
            <a:avLst/>
          </a:prstGeom>
        </p:spPr>
      </p:pic>
      <p:sp>
        <p:nvSpPr>
          <p:cNvPr id="16" name="TextBox 15">
            <a:extLst>
              <a:ext uri="{FF2B5EF4-FFF2-40B4-BE49-F238E27FC236}">
                <a16:creationId xmlns:a16="http://schemas.microsoft.com/office/drawing/2014/main" id="{D2E2AF8A-8E07-9662-0583-0C63CDD0AEE1}"/>
              </a:ext>
            </a:extLst>
          </p:cNvPr>
          <p:cNvSpPr txBox="1"/>
          <p:nvPr/>
        </p:nvSpPr>
        <p:spPr>
          <a:xfrm>
            <a:off x="201336" y="167780"/>
            <a:ext cx="3640818" cy="461665"/>
          </a:xfrm>
          <a:prstGeom prst="rect">
            <a:avLst/>
          </a:prstGeom>
          <a:noFill/>
        </p:spPr>
        <p:txBody>
          <a:bodyPr wrap="square" rtlCol="0">
            <a:spAutoFit/>
          </a:bodyPr>
          <a:lstStyle/>
          <a:p>
            <a:r>
              <a:rPr lang="en-US" sz="2400" dirty="0">
                <a:solidFill>
                  <a:schemeClr val="bg1"/>
                </a:solidFill>
              </a:rPr>
              <a:t>CODE AND EXPLANATION:</a:t>
            </a:r>
            <a:endParaRPr lang="en-IN" sz="2400" dirty="0">
              <a:solidFill>
                <a:schemeClr val="bg1"/>
              </a:solidFill>
            </a:endParaRPr>
          </a:p>
        </p:txBody>
      </p:sp>
    </p:spTree>
    <p:extLst>
      <p:ext uri="{BB962C8B-B14F-4D97-AF65-F5344CB8AC3E}">
        <p14:creationId xmlns:p14="http://schemas.microsoft.com/office/powerpoint/2010/main" val="3236631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5A39AA-7EA7-5804-2ABC-C9F124E2A35D}"/>
              </a:ext>
            </a:extLst>
          </p:cNvPr>
          <p:cNvSpPr txBox="1"/>
          <p:nvPr/>
        </p:nvSpPr>
        <p:spPr>
          <a:xfrm>
            <a:off x="360727" y="436228"/>
            <a:ext cx="7290033" cy="4524315"/>
          </a:xfrm>
          <a:prstGeom prst="rect">
            <a:avLst/>
          </a:prstGeom>
          <a:noFill/>
        </p:spPr>
        <p:txBody>
          <a:bodyPr wrap="square" rtlCol="0">
            <a:spAutoFit/>
          </a:bodyPr>
          <a:lstStyle/>
          <a:p>
            <a:r>
              <a:rPr lang="en-IN" b="1" dirty="0">
                <a:highlight>
                  <a:srgbClr val="FFFF00"/>
                </a:highlight>
              </a:rPr>
              <a:t>Working Procedure of the Code:</a:t>
            </a:r>
          </a:p>
          <a:p>
            <a:endParaRPr lang="en-IN" dirty="0"/>
          </a:p>
          <a:p>
            <a:r>
              <a:rPr lang="en-IN" sz="1200" dirty="0"/>
              <a:t>The Arduino code follows a step-by-step logic flow when a card is scanned:</a:t>
            </a:r>
          </a:p>
          <a:p>
            <a:r>
              <a:rPr lang="en-IN" sz="1200" b="1" dirty="0"/>
              <a:t>Step 1 — System Initialization</a:t>
            </a:r>
            <a:endParaRPr lang="en-IN" sz="1200" dirty="0"/>
          </a:p>
          <a:p>
            <a:r>
              <a:rPr lang="en-IN" sz="1200" dirty="0"/>
              <a:t>During setup(), the Arduino initializes the SPI bus, RFID module, LCD display, and LED pins. The LCD displays 'Scan Your ID' to indicate the system is ready. A 500ms delay ensures the LCD has sufficient time to power up before any commands are sent, preventing display artifacts.</a:t>
            </a:r>
          </a:p>
          <a:p>
            <a:r>
              <a:rPr lang="en-IN" sz="1200" b="1" dirty="0"/>
              <a:t>Step 2 — RFID Card Scanning</a:t>
            </a:r>
            <a:endParaRPr lang="en-IN" sz="1200" dirty="0"/>
          </a:p>
          <a:p>
            <a:r>
              <a:rPr lang="en-IN" sz="1200" dirty="0"/>
              <a:t>In loop(), the code continuously polls the RFID reader using </a:t>
            </a:r>
            <a:r>
              <a:rPr lang="en-IN" sz="1200" b="1" dirty="0" err="1"/>
              <a:t>PICC_IsNewCardPresent</a:t>
            </a:r>
            <a:r>
              <a:rPr lang="en-IN" sz="1200" b="1" dirty="0"/>
              <a:t>() and</a:t>
            </a:r>
            <a:r>
              <a:rPr lang="en-IN" sz="1200" dirty="0"/>
              <a:t> </a:t>
            </a:r>
            <a:r>
              <a:rPr lang="en-IN" sz="1200" dirty="0" err="1"/>
              <a:t>PICC_ReadCardSerial</a:t>
            </a:r>
            <a:r>
              <a:rPr lang="en-IN" sz="1200" dirty="0"/>
              <a:t>(). When a card is detected, the UID bytes are read and converted to a hexadecimal string. The UID is compared against the registered UID stored in the program (UID1 = "21077900").</a:t>
            </a:r>
          </a:p>
          <a:p>
            <a:r>
              <a:rPr lang="en-IN" sz="1200" b="1" dirty="0"/>
              <a:t>Step 3 — Identity Verification</a:t>
            </a:r>
            <a:endParaRPr lang="en-IN" sz="1200" dirty="0"/>
          </a:p>
          <a:p>
            <a:r>
              <a:rPr lang="en-IN" sz="1200" dirty="0"/>
              <a:t>If the scanned UID does not match the registered UID, the system immediately shows '!! Wrong ID !!' on the LCD, activates the Red LED for 3 seconds, and returns without proceeding to temperature measurement. If the UID matches, the LCD shows 'ID Verified! Hello Person1!' confirming valid identity.</a:t>
            </a:r>
          </a:p>
          <a:p>
            <a:r>
              <a:rPr lang="en-IN" sz="1200" b="1" dirty="0"/>
              <a:t>Step 4 — Temperature Measurement</a:t>
            </a:r>
            <a:endParaRPr lang="en-IN" sz="1200" dirty="0"/>
          </a:p>
          <a:p>
            <a:r>
              <a:rPr lang="en-IN" sz="1200" dirty="0"/>
              <a:t>After identity verification, the LCD displays 'Check Your Temp – Please Wait' for 2 seconds, allowing the LM35 sensor to stabilize. The </a:t>
            </a:r>
            <a:r>
              <a:rPr lang="en-IN" sz="1200" dirty="0" err="1"/>
              <a:t>analog</a:t>
            </a:r>
            <a:r>
              <a:rPr lang="en-IN" sz="1200" dirty="0"/>
              <a:t> value from pin A0 is read using </a:t>
            </a:r>
            <a:r>
              <a:rPr lang="en-IN" sz="1200" dirty="0" err="1"/>
              <a:t>analogRead</a:t>
            </a:r>
            <a:r>
              <a:rPr lang="en-IN" sz="1200" dirty="0"/>
              <a:t>() and converted to Celsius using the formula: Temp = </a:t>
            </a:r>
            <a:r>
              <a:rPr lang="en-IN" sz="1200" dirty="0" err="1"/>
              <a:t>ADC_Value</a:t>
            </a:r>
            <a:r>
              <a:rPr lang="en-IN" sz="1200" dirty="0"/>
              <a:t> × (5.0 / 1023.0) × 100.0, since LM35 produces 10mV per degree Celsius.</a:t>
            </a:r>
          </a:p>
          <a:p>
            <a:r>
              <a:rPr lang="en-IN" sz="1200" b="1" dirty="0"/>
              <a:t>Step 5 — Access Decision</a:t>
            </a:r>
            <a:endParaRPr lang="en-IN" sz="1200" dirty="0"/>
          </a:p>
          <a:p>
            <a:r>
              <a:rPr lang="en-IN" sz="1200" dirty="0"/>
              <a:t>The measured temperature is compared against the threshold of 37.5°C. If temperature exceeds the limit, the Red LED glows and LCD shows 'High Temp – Deny'. If temperature is within the safe range, the Green LED glows and LCD shows 'Person1 OK! – Welcome!'. After 3 seconds, the display resets to 'Scan Your ID'.</a:t>
            </a:r>
          </a:p>
        </p:txBody>
      </p:sp>
    </p:spTree>
    <p:extLst>
      <p:ext uri="{BB962C8B-B14F-4D97-AF65-F5344CB8AC3E}">
        <p14:creationId xmlns:p14="http://schemas.microsoft.com/office/powerpoint/2010/main" val="1195381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C26649-2F16-A942-4DDB-CCEE4B271EB4}"/>
              </a:ext>
            </a:extLst>
          </p:cNvPr>
          <p:cNvSpPr txBox="1"/>
          <p:nvPr/>
        </p:nvSpPr>
        <p:spPr>
          <a:xfrm>
            <a:off x="200967" y="693336"/>
            <a:ext cx="7360418" cy="4231928"/>
          </a:xfrm>
          <a:prstGeom prst="rect">
            <a:avLst/>
          </a:prstGeom>
          <a:noFill/>
        </p:spPr>
        <p:txBody>
          <a:bodyPr wrap="square" rtlCol="0">
            <a:spAutoFit/>
          </a:bodyPr>
          <a:lstStyle/>
          <a:p>
            <a:r>
              <a:rPr lang="en-US" sz="1100" b="1" dirty="0">
                <a:highlight>
                  <a:srgbClr val="FFFF00"/>
                </a:highlight>
              </a:rPr>
              <a:t>Working Procedure of the ESP8266 Code:</a:t>
            </a:r>
          </a:p>
          <a:p>
            <a:endParaRPr lang="en-US" sz="1100" b="1" dirty="0">
              <a:highlight>
                <a:srgbClr val="FFFF00"/>
              </a:highlight>
            </a:endParaRPr>
          </a:p>
          <a:p>
            <a:r>
              <a:rPr lang="en-US" sz="800" dirty="0"/>
              <a:t>The </a:t>
            </a:r>
            <a:r>
              <a:rPr lang="en-US" sz="800" dirty="0" err="1"/>
              <a:t>NodeMCU</a:t>
            </a:r>
            <a:r>
              <a:rPr lang="en-US" sz="800" dirty="0"/>
              <a:t> code manages </a:t>
            </a:r>
            <a:r>
              <a:rPr lang="en-US" sz="800" b="1" dirty="0" err="1"/>
              <a:t>WiFi</a:t>
            </a:r>
            <a:r>
              <a:rPr lang="en-US" sz="800" b="1" dirty="0"/>
              <a:t> communication and displays attendance data on a mobile webpage</a:t>
            </a:r>
            <a:r>
              <a:rPr lang="en-US" sz="800" dirty="0"/>
              <a:t>. It follows a simple step-by-step process:</a:t>
            </a:r>
          </a:p>
          <a:p>
            <a:r>
              <a:rPr lang="en-US" sz="800" b="1" dirty="0"/>
              <a:t>Step 1 — System Initialization</a:t>
            </a:r>
          </a:p>
          <a:p>
            <a:r>
              <a:rPr lang="en-US" sz="800" dirty="0"/>
              <a:t>During setup(), the ESP8266 starts serial communication using </a:t>
            </a:r>
            <a:r>
              <a:rPr lang="en-US" sz="800" dirty="0" err="1"/>
              <a:t>Serial.begin</a:t>
            </a:r>
            <a:r>
              <a:rPr lang="en-US" sz="800" dirty="0"/>
              <a:t>(9600) to receive data from the Arduino. It then connects to the </a:t>
            </a:r>
            <a:r>
              <a:rPr lang="en-US" sz="800" dirty="0" err="1"/>
              <a:t>WiFi</a:t>
            </a:r>
            <a:r>
              <a:rPr lang="en-US" sz="800" dirty="0"/>
              <a:t> network using the provided SSID and password. The system continuously checks the connection status using </a:t>
            </a:r>
            <a:r>
              <a:rPr lang="en-US" sz="800" dirty="0" err="1"/>
              <a:t>WiFi.status</a:t>
            </a:r>
            <a:r>
              <a:rPr lang="en-US" sz="800" dirty="0"/>
              <a:t>() until it becomes WL_CONNECTED. Once connected, the IP address is printed, which is used to access the webpage on a phone browser.</a:t>
            </a:r>
          </a:p>
          <a:p>
            <a:br>
              <a:rPr lang="en-US" sz="800" dirty="0"/>
            </a:br>
            <a:endParaRPr lang="en-US" sz="800" dirty="0"/>
          </a:p>
          <a:p>
            <a:r>
              <a:rPr lang="en-US" sz="800" b="1" dirty="0"/>
              <a:t>Step 2 — Web Server Setup</a:t>
            </a:r>
          </a:p>
          <a:p>
            <a:r>
              <a:rPr lang="en-US" sz="800" dirty="0"/>
              <a:t>A web server is created using ESP8266WebServer server(80) on port 80. The function </a:t>
            </a:r>
            <a:r>
              <a:rPr lang="en-US" sz="800" dirty="0" err="1"/>
              <a:t>server.on</a:t>
            </a:r>
            <a:r>
              <a:rPr lang="en-US" sz="800" dirty="0"/>
              <a:t>("/") defines what happens when a user opens the IP address in a browser. It generates a dynamic HTML page containing the attendance log. Basic CSS styling is added to improve readability and appearance. The webpage is set to auto-refresh every 5 seconds to show the latest updates.</a:t>
            </a:r>
          </a:p>
          <a:p>
            <a:endParaRPr lang="en-US" sz="800" dirty="0"/>
          </a:p>
          <a:p>
            <a:r>
              <a:rPr lang="en-US" sz="800" b="1" dirty="0"/>
              <a:t>Step 3 — Attendance Display</a:t>
            </a:r>
          </a:p>
          <a:p>
            <a:r>
              <a:rPr lang="en-US" sz="800" dirty="0"/>
              <a:t>When the webpage is opened:</a:t>
            </a:r>
          </a:p>
          <a:p>
            <a:r>
              <a:rPr lang="en-US" sz="800" dirty="0"/>
              <a:t>If no data is received yet, it shows </a:t>
            </a:r>
            <a:r>
              <a:rPr lang="en-US" sz="800" i="1" dirty="0"/>
              <a:t>“No entries yet”</a:t>
            </a:r>
            <a:r>
              <a:rPr lang="en-US" sz="800" dirty="0"/>
              <a:t> </a:t>
            </a:r>
          </a:p>
          <a:p>
            <a:r>
              <a:rPr lang="en-US" sz="800" dirty="0"/>
              <a:t>Otherwise, it reads the stored </a:t>
            </a:r>
            <a:r>
              <a:rPr lang="en-US" sz="800" dirty="0" err="1"/>
              <a:t>attendanceLog</a:t>
            </a:r>
            <a:r>
              <a:rPr lang="en-US" sz="800" dirty="0"/>
              <a:t> string </a:t>
            </a:r>
          </a:p>
          <a:p>
            <a:r>
              <a:rPr lang="en-US" sz="800" dirty="0"/>
              <a:t>Each entry is separated using &lt;</a:t>
            </a:r>
            <a:r>
              <a:rPr lang="en-US" sz="800" dirty="0" err="1"/>
              <a:t>br</a:t>
            </a:r>
            <a:r>
              <a:rPr lang="en-US" sz="800" dirty="0"/>
              <a:t>&gt; and displayed one by one </a:t>
            </a:r>
          </a:p>
          <a:p>
            <a:r>
              <a:rPr lang="en-US" sz="800" dirty="0"/>
              <a:t>Based on the message content:</a:t>
            </a:r>
          </a:p>
          <a:p>
            <a:r>
              <a:rPr lang="en-US" sz="800" dirty="0"/>
              <a:t>“Entered” → shown in green (valid entry) </a:t>
            </a:r>
          </a:p>
          <a:p>
            <a:r>
              <a:rPr lang="en-US" sz="800" dirty="0"/>
              <a:t>“Wrong” → shown in red (invalid card) </a:t>
            </a:r>
          </a:p>
          <a:p>
            <a:r>
              <a:rPr lang="en-US" sz="800" dirty="0"/>
              <a:t>“High” → shown in orange (high temperature warning) </a:t>
            </a:r>
          </a:p>
          <a:p>
            <a:r>
              <a:rPr lang="en-US" sz="800" dirty="0"/>
              <a:t>This makes the interface easy to understand.</a:t>
            </a:r>
          </a:p>
          <a:p>
            <a:r>
              <a:rPr lang="en-US" sz="800" b="1" dirty="0"/>
              <a:t>Step 4 — Data Reception from Arduino</a:t>
            </a:r>
          </a:p>
          <a:p>
            <a:r>
              <a:rPr lang="en-US" sz="800" dirty="0"/>
              <a:t>In the loop() function, the ESP8266 continuously checks for incoming data using </a:t>
            </a:r>
            <a:r>
              <a:rPr lang="en-US" sz="800" dirty="0" err="1"/>
              <a:t>Serial.available</a:t>
            </a:r>
            <a:r>
              <a:rPr lang="en-US" sz="800" dirty="0"/>
              <a:t>(). When Arduino sends a message (like </a:t>
            </a:r>
            <a:r>
              <a:rPr lang="en-US" sz="800" i="1" dirty="0"/>
              <a:t>“Person1 - 36.8C (Entered)”</a:t>
            </a:r>
            <a:r>
              <a:rPr lang="en-US" sz="800" dirty="0"/>
              <a:t>), it is read using </a:t>
            </a:r>
            <a:r>
              <a:rPr lang="en-US" sz="800" dirty="0" err="1"/>
              <a:t>readStringUntil</a:t>
            </a:r>
            <a:r>
              <a:rPr lang="en-US" sz="800" dirty="0"/>
              <a:t>('\n').</a:t>
            </a:r>
          </a:p>
          <a:p>
            <a:r>
              <a:rPr lang="en-US" sz="800" dirty="0"/>
              <a:t>The received data is cleaned using trim() and added to the </a:t>
            </a:r>
            <a:r>
              <a:rPr lang="en-US" sz="800" dirty="0" err="1"/>
              <a:t>attendanceLog</a:t>
            </a:r>
            <a:r>
              <a:rPr lang="en-US" sz="800" dirty="0"/>
              <a:t>. Each new entry is placed at the top, so the latest record appears first on the webpage.</a:t>
            </a:r>
          </a:p>
          <a:p>
            <a:endParaRPr lang="en-US" sz="800" dirty="0"/>
          </a:p>
          <a:p>
            <a:r>
              <a:rPr lang="en-US" sz="800" b="1" dirty="0"/>
              <a:t>Step 5 — Continuous Web Handling</a:t>
            </a:r>
          </a:p>
          <a:p>
            <a:r>
              <a:rPr lang="en-US" sz="800" dirty="0"/>
              <a:t>The function </a:t>
            </a:r>
            <a:r>
              <a:rPr lang="en-US" sz="800" dirty="0" err="1"/>
              <a:t>server.handleClient</a:t>
            </a:r>
            <a:r>
              <a:rPr lang="en-US" sz="800" dirty="0"/>
              <a:t>() runs continuously in the loop. It listens for incoming requests from a browser and sends the updated webpage whenever required. Due to auto-refresh, the user always sees the latest attendance records without manually refreshing.</a:t>
            </a:r>
          </a:p>
          <a:p>
            <a:endParaRPr lang="en-IN" sz="700" dirty="0"/>
          </a:p>
        </p:txBody>
      </p:sp>
    </p:spTree>
    <p:extLst>
      <p:ext uri="{BB962C8B-B14F-4D97-AF65-F5344CB8AC3E}">
        <p14:creationId xmlns:p14="http://schemas.microsoft.com/office/powerpoint/2010/main" val="374527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FF"/>
          </a:solidFill>
          <a:ln w="12700">
            <a:solidFill>
              <a:srgbClr val="00D4FF"/>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lgn="ctr">
              <a:buNone/>
            </a:pPr>
            <a:r>
              <a:rPr lang="en-US" sz="2600" b="1" dirty="0">
                <a:solidFill>
                  <a:srgbClr val="FFFFFF"/>
                </a:solidFill>
              </a:rPr>
              <a:t>How It Works — Logic Flow</a:t>
            </a:r>
            <a:endParaRPr lang="en-US" sz="2600" dirty="0"/>
          </a:p>
        </p:txBody>
      </p:sp>
      <p:sp>
        <p:nvSpPr>
          <p:cNvPr id="4" name="Shape 2"/>
          <p:cNvSpPr/>
          <p:nvPr/>
        </p:nvSpPr>
        <p:spPr>
          <a:xfrm>
            <a:off x="3520440" y="777240"/>
            <a:ext cx="2103120" cy="457200"/>
          </a:xfrm>
          <a:prstGeom prst="roundRect">
            <a:avLst>
              <a:gd name="adj" fmla="val 20000"/>
            </a:avLst>
          </a:prstGeom>
          <a:solidFill>
            <a:srgbClr val="1B2A3B"/>
          </a:solidFill>
          <a:ln w="25400">
            <a:solidFill>
              <a:srgbClr val="00D4FF"/>
            </a:solidFill>
            <a:prstDash val="solid"/>
          </a:ln>
        </p:spPr>
      </p:sp>
      <p:sp>
        <p:nvSpPr>
          <p:cNvPr id="5" name="Text 3"/>
          <p:cNvSpPr/>
          <p:nvPr/>
        </p:nvSpPr>
        <p:spPr>
          <a:xfrm>
            <a:off x="3520440" y="777240"/>
            <a:ext cx="2103120" cy="457200"/>
          </a:xfrm>
          <a:prstGeom prst="rect">
            <a:avLst/>
          </a:prstGeom>
          <a:noFill/>
          <a:ln/>
        </p:spPr>
        <p:txBody>
          <a:bodyPr wrap="square" rtlCol="0" anchor="ctr"/>
          <a:lstStyle/>
          <a:p>
            <a:pPr marL="0" indent="0" algn="ctr">
              <a:buNone/>
            </a:pPr>
            <a:r>
              <a:rPr lang="en-US" sz="1100" b="1" dirty="0">
                <a:solidFill>
                  <a:srgbClr val="FFFFFF"/>
                </a:solidFill>
              </a:rPr>
              <a:t>Scan RFID Card</a:t>
            </a:r>
            <a:endParaRPr lang="en-US" sz="1100" dirty="0"/>
          </a:p>
        </p:txBody>
      </p:sp>
      <p:sp>
        <p:nvSpPr>
          <p:cNvPr id="6" name="Shape 4"/>
          <p:cNvSpPr/>
          <p:nvPr/>
        </p:nvSpPr>
        <p:spPr>
          <a:xfrm>
            <a:off x="4572000" y="1234440"/>
            <a:ext cx="0" cy="201168"/>
          </a:xfrm>
          <a:prstGeom prst="line">
            <a:avLst/>
          </a:prstGeom>
          <a:noFill/>
          <a:ln w="19050">
            <a:solidFill>
              <a:srgbClr val="8899AA"/>
            </a:solidFill>
            <a:prstDash val="solid"/>
            <a:tailEnd type="arrow"/>
          </a:ln>
        </p:spPr>
      </p:sp>
      <p:sp>
        <p:nvSpPr>
          <p:cNvPr id="7" name="Shape 5"/>
          <p:cNvSpPr/>
          <p:nvPr/>
        </p:nvSpPr>
        <p:spPr>
          <a:xfrm>
            <a:off x="3520440" y="1444752"/>
            <a:ext cx="2274652" cy="457200"/>
          </a:xfrm>
          <a:prstGeom prst="roundRect">
            <a:avLst>
              <a:gd name="adj" fmla="val 20000"/>
            </a:avLst>
          </a:prstGeom>
          <a:solidFill>
            <a:srgbClr val="1B2A3B"/>
          </a:solidFill>
          <a:ln w="25400">
            <a:solidFill>
              <a:srgbClr val="FFD700"/>
            </a:solidFill>
            <a:prstDash val="solid"/>
          </a:ln>
        </p:spPr>
      </p:sp>
      <p:sp>
        <p:nvSpPr>
          <p:cNvPr id="8" name="Text 6"/>
          <p:cNvSpPr/>
          <p:nvPr/>
        </p:nvSpPr>
        <p:spPr>
          <a:xfrm>
            <a:off x="3625174" y="1435608"/>
            <a:ext cx="1998385" cy="457200"/>
          </a:xfrm>
          <a:prstGeom prst="rect">
            <a:avLst/>
          </a:prstGeom>
          <a:noFill/>
          <a:ln/>
        </p:spPr>
        <p:txBody>
          <a:bodyPr wrap="square" rtlCol="0" anchor="ctr"/>
          <a:lstStyle/>
          <a:p>
            <a:pPr marL="0" indent="0" algn="ctr">
              <a:buNone/>
            </a:pPr>
            <a:r>
              <a:rPr lang="en-US" sz="1000" b="1" dirty="0">
                <a:solidFill>
                  <a:srgbClr val="FFFFFF"/>
                </a:solidFill>
              </a:rPr>
              <a:t>UID Registered?</a:t>
            </a:r>
            <a:endParaRPr lang="en-US" sz="1000" dirty="0"/>
          </a:p>
        </p:txBody>
      </p:sp>
      <p:sp>
        <p:nvSpPr>
          <p:cNvPr id="9" name="Shape 7"/>
          <p:cNvSpPr/>
          <p:nvPr/>
        </p:nvSpPr>
        <p:spPr>
          <a:xfrm>
            <a:off x="4572000" y="1892808"/>
            <a:ext cx="0" cy="201168"/>
          </a:xfrm>
          <a:prstGeom prst="line">
            <a:avLst/>
          </a:prstGeom>
          <a:noFill/>
          <a:ln w="19050">
            <a:solidFill>
              <a:srgbClr val="8899AA"/>
            </a:solidFill>
            <a:prstDash val="solid"/>
            <a:tailEnd type="arrow"/>
          </a:ln>
        </p:spPr>
      </p:sp>
      <p:sp>
        <p:nvSpPr>
          <p:cNvPr id="10" name="Shape 8"/>
          <p:cNvSpPr/>
          <p:nvPr/>
        </p:nvSpPr>
        <p:spPr>
          <a:xfrm>
            <a:off x="3520440" y="2093976"/>
            <a:ext cx="2103120" cy="502920"/>
          </a:xfrm>
          <a:prstGeom prst="roundRect">
            <a:avLst>
              <a:gd name="adj" fmla="val 18182"/>
            </a:avLst>
          </a:prstGeom>
          <a:solidFill>
            <a:srgbClr val="1B2A3B"/>
          </a:solidFill>
          <a:ln w="25400">
            <a:solidFill>
              <a:srgbClr val="00D4FF"/>
            </a:solidFill>
            <a:prstDash val="solid"/>
          </a:ln>
        </p:spPr>
      </p:sp>
      <p:sp>
        <p:nvSpPr>
          <p:cNvPr id="11" name="Text 9"/>
          <p:cNvSpPr/>
          <p:nvPr/>
        </p:nvSpPr>
        <p:spPr>
          <a:xfrm>
            <a:off x="3520440" y="2093976"/>
            <a:ext cx="2103120" cy="502920"/>
          </a:xfrm>
          <a:prstGeom prst="rect">
            <a:avLst/>
          </a:prstGeom>
          <a:noFill/>
          <a:ln/>
        </p:spPr>
        <p:txBody>
          <a:bodyPr wrap="square" rtlCol="0" anchor="ctr"/>
          <a:lstStyle/>
          <a:p>
            <a:pPr marL="0" indent="0" algn="ctr">
              <a:buNone/>
            </a:pPr>
            <a:r>
              <a:rPr lang="en-US" sz="1100" b="1" dirty="0">
                <a:solidFill>
                  <a:srgbClr val="FFFFFF"/>
                </a:solidFill>
              </a:rPr>
              <a:t>Read Temperature</a:t>
            </a:r>
            <a:endParaRPr lang="en-US" sz="1100" dirty="0"/>
          </a:p>
          <a:p>
            <a:pPr marL="0" indent="0" algn="ctr">
              <a:buNone/>
            </a:pPr>
            <a:r>
              <a:rPr lang="en-US" sz="1100" b="1" dirty="0">
                <a:solidFill>
                  <a:srgbClr val="FFFFFF"/>
                </a:solidFill>
              </a:rPr>
              <a:t>(LM35 → A0)</a:t>
            </a:r>
            <a:endParaRPr lang="en-US" sz="1100" dirty="0"/>
          </a:p>
        </p:txBody>
      </p:sp>
      <p:sp>
        <p:nvSpPr>
          <p:cNvPr id="12" name="Shape 10"/>
          <p:cNvSpPr/>
          <p:nvPr/>
        </p:nvSpPr>
        <p:spPr>
          <a:xfrm>
            <a:off x="4572000" y="2596896"/>
            <a:ext cx="0" cy="201168"/>
          </a:xfrm>
          <a:prstGeom prst="line">
            <a:avLst/>
          </a:prstGeom>
          <a:noFill/>
          <a:ln w="19050">
            <a:solidFill>
              <a:srgbClr val="8899AA"/>
            </a:solidFill>
            <a:prstDash val="solid"/>
            <a:tailEnd type="arrow"/>
          </a:ln>
        </p:spPr>
      </p:sp>
      <p:sp>
        <p:nvSpPr>
          <p:cNvPr id="13" name="Shape 11"/>
          <p:cNvSpPr/>
          <p:nvPr/>
        </p:nvSpPr>
        <p:spPr>
          <a:xfrm>
            <a:off x="3520440" y="2798064"/>
            <a:ext cx="2103120" cy="457200"/>
          </a:xfrm>
          <a:prstGeom prst="roundRect">
            <a:avLst>
              <a:gd name="adj" fmla="val 20000"/>
            </a:avLst>
          </a:prstGeom>
          <a:solidFill>
            <a:srgbClr val="1B2A3B"/>
          </a:solidFill>
          <a:ln w="25400">
            <a:solidFill>
              <a:srgbClr val="FFD700"/>
            </a:solidFill>
            <a:prstDash val="solid"/>
          </a:ln>
        </p:spPr>
      </p:sp>
      <p:sp>
        <p:nvSpPr>
          <p:cNvPr id="14" name="Text 12"/>
          <p:cNvSpPr/>
          <p:nvPr/>
        </p:nvSpPr>
        <p:spPr>
          <a:xfrm>
            <a:off x="3520440" y="2798064"/>
            <a:ext cx="2103120" cy="457200"/>
          </a:xfrm>
          <a:prstGeom prst="rect">
            <a:avLst/>
          </a:prstGeom>
          <a:noFill/>
          <a:ln/>
        </p:spPr>
        <p:txBody>
          <a:bodyPr wrap="square" rtlCol="0" anchor="ctr"/>
          <a:lstStyle/>
          <a:p>
            <a:pPr marL="0" indent="0" algn="ctr">
              <a:buNone/>
            </a:pPr>
            <a:r>
              <a:rPr lang="en-US" sz="1000" b="1" dirty="0">
                <a:solidFill>
                  <a:srgbClr val="FFFFFF"/>
                </a:solidFill>
              </a:rPr>
              <a:t>Temp ≤ 37.5°C?</a:t>
            </a:r>
            <a:endParaRPr lang="en-US" sz="1000" dirty="0"/>
          </a:p>
        </p:txBody>
      </p:sp>
      <p:sp>
        <p:nvSpPr>
          <p:cNvPr id="15" name="Shape 13"/>
          <p:cNvSpPr/>
          <p:nvPr/>
        </p:nvSpPr>
        <p:spPr>
          <a:xfrm>
            <a:off x="5623560" y="3026664"/>
            <a:ext cx="457200" cy="0"/>
          </a:xfrm>
          <a:prstGeom prst="line">
            <a:avLst/>
          </a:prstGeom>
          <a:noFill/>
          <a:ln w="19050">
            <a:solidFill>
              <a:srgbClr val="8899AA"/>
            </a:solidFill>
            <a:prstDash val="solid"/>
            <a:tailEnd type="arrow"/>
          </a:ln>
        </p:spPr>
      </p:sp>
      <p:sp>
        <p:nvSpPr>
          <p:cNvPr id="16" name="Shape 14"/>
          <p:cNvSpPr/>
          <p:nvPr/>
        </p:nvSpPr>
        <p:spPr>
          <a:xfrm>
            <a:off x="6080760" y="2697480"/>
            <a:ext cx="2194560" cy="731520"/>
          </a:xfrm>
          <a:prstGeom prst="roundRect">
            <a:avLst>
              <a:gd name="adj" fmla="val 12500"/>
            </a:avLst>
          </a:prstGeom>
          <a:solidFill>
            <a:srgbClr val="002211"/>
          </a:solidFill>
          <a:ln w="25400">
            <a:solidFill>
              <a:srgbClr val="00FF88"/>
            </a:solidFill>
            <a:prstDash val="solid"/>
          </a:ln>
        </p:spPr>
      </p:sp>
      <p:sp>
        <p:nvSpPr>
          <p:cNvPr id="17" name="Text 15"/>
          <p:cNvSpPr/>
          <p:nvPr/>
        </p:nvSpPr>
        <p:spPr>
          <a:xfrm>
            <a:off x="6080760" y="2697480"/>
            <a:ext cx="2194560" cy="731520"/>
          </a:xfrm>
          <a:prstGeom prst="rect">
            <a:avLst/>
          </a:prstGeom>
          <a:noFill/>
          <a:ln/>
        </p:spPr>
        <p:txBody>
          <a:bodyPr wrap="square" rtlCol="0" anchor="ctr"/>
          <a:lstStyle/>
          <a:p>
            <a:pPr marL="0" indent="0" algn="ctr">
              <a:buNone/>
            </a:pPr>
            <a:r>
              <a:rPr lang="en-US" sz="900" b="1" dirty="0">
                <a:solidFill>
                  <a:srgbClr val="FFFFFF"/>
                </a:solidFill>
              </a:rPr>
              <a:t>✅ ALLOW</a:t>
            </a:r>
            <a:endParaRPr lang="en-US" sz="900" dirty="0"/>
          </a:p>
          <a:p>
            <a:pPr marL="0" indent="0" algn="ctr">
              <a:buNone/>
            </a:pPr>
            <a:r>
              <a:rPr lang="en-US" sz="900" b="1" dirty="0">
                <a:solidFill>
                  <a:srgbClr val="FFFFFF"/>
                </a:solidFill>
              </a:rPr>
              <a:t>Green LED</a:t>
            </a:r>
            <a:endParaRPr lang="en-US" sz="900" dirty="0"/>
          </a:p>
          <a:p>
            <a:pPr marL="0" indent="0" algn="ctr">
              <a:buNone/>
            </a:pPr>
            <a:r>
              <a:rPr lang="en-US" sz="900" b="1" dirty="0">
                <a:solidFill>
                  <a:srgbClr val="FFFFFF"/>
                </a:solidFill>
              </a:rPr>
              <a:t>LCD: Welcome!</a:t>
            </a:r>
            <a:endParaRPr lang="en-US" sz="900" dirty="0"/>
          </a:p>
          <a:p>
            <a:pPr marL="0" indent="0" algn="ctr">
              <a:buNone/>
            </a:pPr>
            <a:r>
              <a:rPr lang="en-US" sz="900" b="1" dirty="0">
                <a:solidFill>
                  <a:srgbClr val="FFFFFF"/>
                </a:solidFill>
              </a:rPr>
              <a:t>ESP: Entered</a:t>
            </a:r>
            <a:endParaRPr lang="en-US" sz="900" dirty="0"/>
          </a:p>
        </p:txBody>
      </p:sp>
      <p:sp>
        <p:nvSpPr>
          <p:cNvPr id="18" name="Shape 16"/>
          <p:cNvSpPr/>
          <p:nvPr/>
        </p:nvSpPr>
        <p:spPr>
          <a:xfrm flipH="1" flipV="1">
            <a:off x="2670726" y="1712017"/>
            <a:ext cx="849714" cy="0"/>
          </a:xfrm>
          <a:prstGeom prst="line">
            <a:avLst/>
          </a:prstGeom>
          <a:noFill/>
          <a:ln w="19050">
            <a:solidFill>
              <a:srgbClr val="8899AA"/>
            </a:solidFill>
            <a:prstDash val="solid"/>
            <a:tailEnd type="arrow"/>
          </a:ln>
        </p:spPr>
      </p:sp>
      <p:sp>
        <p:nvSpPr>
          <p:cNvPr id="19" name="Shape 17"/>
          <p:cNvSpPr/>
          <p:nvPr/>
        </p:nvSpPr>
        <p:spPr>
          <a:xfrm>
            <a:off x="457200" y="1435608"/>
            <a:ext cx="2194560" cy="731520"/>
          </a:xfrm>
          <a:prstGeom prst="roundRect">
            <a:avLst>
              <a:gd name="adj" fmla="val 12500"/>
            </a:avLst>
          </a:prstGeom>
          <a:solidFill>
            <a:srgbClr val="220000"/>
          </a:solidFill>
          <a:ln w="25400">
            <a:solidFill>
              <a:srgbClr val="FF4444"/>
            </a:solidFill>
            <a:prstDash val="solid"/>
          </a:ln>
        </p:spPr>
      </p:sp>
      <p:sp>
        <p:nvSpPr>
          <p:cNvPr id="20" name="Text 18"/>
          <p:cNvSpPr/>
          <p:nvPr/>
        </p:nvSpPr>
        <p:spPr>
          <a:xfrm>
            <a:off x="457200" y="1435608"/>
            <a:ext cx="2194560" cy="731520"/>
          </a:xfrm>
          <a:prstGeom prst="rect">
            <a:avLst/>
          </a:prstGeom>
          <a:noFill/>
          <a:ln/>
        </p:spPr>
        <p:txBody>
          <a:bodyPr wrap="square" rtlCol="0" anchor="ctr"/>
          <a:lstStyle/>
          <a:p>
            <a:pPr marL="0" indent="0" algn="ctr">
              <a:buNone/>
            </a:pPr>
            <a:r>
              <a:rPr lang="en-US" sz="900" b="1" dirty="0">
                <a:solidFill>
                  <a:srgbClr val="FFFFFF"/>
                </a:solidFill>
              </a:rPr>
              <a:t>❌ DENY</a:t>
            </a:r>
            <a:endParaRPr lang="en-US" sz="900" dirty="0"/>
          </a:p>
          <a:p>
            <a:pPr marL="0" indent="0" algn="ctr">
              <a:buNone/>
            </a:pPr>
            <a:r>
              <a:rPr lang="en-US" sz="900" b="1" dirty="0">
                <a:solidFill>
                  <a:srgbClr val="FFFFFF"/>
                </a:solidFill>
              </a:rPr>
              <a:t>Wrong ID</a:t>
            </a:r>
            <a:endParaRPr lang="en-US" sz="900" dirty="0"/>
          </a:p>
          <a:p>
            <a:pPr marL="0" indent="0" algn="ctr">
              <a:buNone/>
            </a:pPr>
            <a:r>
              <a:rPr lang="en-US" sz="900" b="1" dirty="0">
                <a:solidFill>
                  <a:srgbClr val="FFFFFF"/>
                </a:solidFill>
              </a:rPr>
              <a:t>Red LED</a:t>
            </a:r>
            <a:endParaRPr lang="en-US" sz="900" dirty="0"/>
          </a:p>
          <a:p>
            <a:pPr marL="0" indent="0" algn="ctr">
              <a:buNone/>
            </a:pPr>
            <a:r>
              <a:rPr lang="en-US" sz="900" b="1" dirty="0">
                <a:solidFill>
                  <a:srgbClr val="FFFFFF"/>
                </a:solidFill>
              </a:rPr>
              <a:t>ESP: Wrong ID</a:t>
            </a:r>
            <a:endParaRPr lang="en-US" sz="900" dirty="0"/>
          </a:p>
        </p:txBody>
      </p:sp>
      <p:sp>
        <p:nvSpPr>
          <p:cNvPr id="23" name="Shape 21"/>
          <p:cNvSpPr/>
          <p:nvPr/>
        </p:nvSpPr>
        <p:spPr>
          <a:xfrm>
            <a:off x="457200" y="2697480"/>
            <a:ext cx="2194560" cy="731520"/>
          </a:xfrm>
          <a:prstGeom prst="roundRect">
            <a:avLst>
              <a:gd name="adj" fmla="val 12500"/>
            </a:avLst>
          </a:prstGeom>
          <a:solidFill>
            <a:srgbClr val="220000"/>
          </a:solidFill>
          <a:ln w="25400">
            <a:solidFill>
              <a:srgbClr val="FF4444"/>
            </a:solidFill>
            <a:prstDash val="solid"/>
          </a:ln>
        </p:spPr>
      </p:sp>
      <p:sp>
        <p:nvSpPr>
          <p:cNvPr id="24" name="Text 22"/>
          <p:cNvSpPr/>
          <p:nvPr/>
        </p:nvSpPr>
        <p:spPr>
          <a:xfrm>
            <a:off x="457200" y="2697480"/>
            <a:ext cx="2194560" cy="731520"/>
          </a:xfrm>
          <a:prstGeom prst="rect">
            <a:avLst/>
          </a:prstGeom>
          <a:noFill/>
          <a:ln/>
        </p:spPr>
        <p:txBody>
          <a:bodyPr wrap="square" rtlCol="0" anchor="ctr"/>
          <a:lstStyle/>
          <a:p>
            <a:pPr marL="0" indent="0" algn="ctr">
              <a:buNone/>
            </a:pPr>
            <a:r>
              <a:rPr lang="en-US" sz="900" b="1" dirty="0">
                <a:solidFill>
                  <a:srgbClr val="FFFFFF"/>
                </a:solidFill>
              </a:rPr>
              <a:t>❌ DENY</a:t>
            </a:r>
            <a:endParaRPr lang="en-US" sz="900" dirty="0"/>
          </a:p>
          <a:p>
            <a:pPr marL="0" indent="0" algn="ctr">
              <a:buNone/>
            </a:pPr>
            <a:r>
              <a:rPr lang="en-US" sz="900" b="1" dirty="0">
                <a:solidFill>
                  <a:srgbClr val="FFFFFF"/>
                </a:solidFill>
              </a:rPr>
              <a:t>High Temp!</a:t>
            </a:r>
            <a:endParaRPr lang="en-US" sz="900" dirty="0"/>
          </a:p>
          <a:p>
            <a:pPr marL="0" indent="0" algn="ctr">
              <a:buNone/>
            </a:pPr>
            <a:r>
              <a:rPr lang="en-US" sz="900" b="1" dirty="0">
                <a:solidFill>
                  <a:srgbClr val="FFFFFF"/>
                </a:solidFill>
              </a:rPr>
              <a:t>Red LED</a:t>
            </a:r>
            <a:endParaRPr lang="en-US" sz="900" dirty="0"/>
          </a:p>
          <a:p>
            <a:pPr marL="0" indent="0" algn="ctr">
              <a:buNone/>
            </a:pPr>
            <a:r>
              <a:rPr lang="en-US" sz="900" b="1" dirty="0">
                <a:solidFill>
                  <a:srgbClr val="FFFFFF"/>
                </a:solidFill>
              </a:rPr>
              <a:t>ESP: High Temp</a:t>
            </a:r>
            <a:endParaRPr lang="en-US" sz="900" dirty="0"/>
          </a:p>
        </p:txBody>
      </p:sp>
      <p:sp>
        <p:nvSpPr>
          <p:cNvPr id="25" name="Text 23"/>
          <p:cNvSpPr/>
          <p:nvPr/>
        </p:nvSpPr>
        <p:spPr>
          <a:xfrm>
            <a:off x="5623560" y="2834640"/>
            <a:ext cx="457200" cy="201168"/>
          </a:xfrm>
          <a:prstGeom prst="rect">
            <a:avLst/>
          </a:prstGeom>
          <a:noFill/>
          <a:ln/>
        </p:spPr>
        <p:txBody>
          <a:bodyPr wrap="square" rtlCol="0" anchor="ctr"/>
          <a:lstStyle/>
          <a:p>
            <a:pPr marL="0" indent="0" algn="ctr">
              <a:buNone/>
            </a:pPr>
            <a:r>
              <a:rPr lang="en-US" sz="900" dirty="0">
                <a:solidFill>
                  <a:srgbClr val="00B050"/>
                </a:solidFill>
                <a:highlight>
                  <a:srgbClr val="FFFF00"/>
                </a:highlight>
              </a:rPr>
              <a:t>YES</a:t>
            </a:r>
          </a:p>
        </p:txBody>
      </p:sp>
      <p:sp>
        <p:nvSpPr>
          <p:cNvPr id="26" name="Text 24"/>
          <p:cNvSpPr/>
          <p:nvPr/>
        </p:nvSpPr>
        <p:spPr>
          <a:xfrm>
            <a:off x="4547978" y="1896683"/>
            <a:ext cx="457200" cy="182880"/>
          </a:xfrm>
          <a:prstGeom prst="rect">
            <a:avLst/>
          </a:prstGeom>
          <a:noFill/>
          <a:ln/>
        </p:spPr>
        <p:txBody>
          <a:bodyPr wrap="square" rtlCol="0" anchor="ctr"/>
          <a:lstStyle/>
          <a:p>
            <a:pPr marL="0" indent="0" algn="ctr">
              <a:buNone/>
            </a:pPr>
            <a:r>
              <a:rPr lang="en-US" sz="900" dirty="0">
                <a:solidFill>
                  <a:srgbClr val="00B050"/>
                </a:solidFill>
                <a:highlight>
                  <a:srgbClr val="FFFF00"/>
                </a:highlight>
              </a:rPr>
              <a:t>YES</a:t>
            </a:r>
          </a:p>
        </p:txBody>
      </p:sp>
      <p:sp>
        <p:nvSpPr>
          <p:cNvPr id="27" name="Text 25"/>
          <p:cNvSpPr/>
          <p:nvPr/>
        </p:nvSpPr>
        <p:spPr>
          <a:xfrm>
            <a:off x="2651759" y="1380743"/>
            <a:ext cx="801881" cy="457199"/>
          </a:xfrm>
          <a:prstGeom prst="rect">
            <a:avLst/>
          </a:prstGeom>
          <a:noFill/>
          <a:ln/>
        </p:spPr>
        <p:txBody>
          <a:bodyPr wrap="square" rtlCol="0" anchor="ctr"/>
          <a:lstStyle/>
          <a:p>
            <a:pPr marL="0" indent="0" algn="ctr">
              <a:buNone/>
            </a:pPr>
            <a:r>
              <a:rPr lang="en-US" sz="900" dirty="0">
                <a:solidFill>
                  <a:srgbClr val="FF4444"/>
                </a:solidFill>
                <a:highlight>
                  <a:srgbClr val="FFFF00"/>
                </a:highlight>
              </a:rPr>
              <a:t>    NO</a:t>
            </a:r>
            <a:endParaRPr lang="en-US" sz="900" dirty="0">
              <a:highlight>
                <a:srgbClr val="FFFF00"/>
              </a:highlight>
            </a:endParaRPr>
          </a:p>
        </p:txBody>
      </p:sp>
      <p:sp>
        <p:nvSpPr>
          <p:cNvPr id="28" name="Text 26"/>
          <p:cNvSpPr/>
          <p:nvPr/>
        </p:nvSpPr>
        <p:spPr>
          <a:xfrm>
            <a:off x="2651759" y="2852927"/>
            <a:ext cx="720495" cy="200779"/>
          </a:xfrm>
          <a:prstGeom prst="rect">
            <a:avLst/>
          </a:prstGeom>
          <a:noFill/>
          <a:ln/>
        </p:spPr>
        <p:txBody>
          <a:bodyPr wrap="square" rtlCol="0" anchor="ctr"/>
          <a:lstStyle/>
          <a:p>
            <a:pPr marL="0" indent="0" algn="ctr">
              <a:buNone/>
            </a:pPr>
            <a:r>
              <a:rPr lang="en-US" sz="900" dirty="0">
                <a:solidFill>
                  <a:srgbClr val="FF4444"/>
                </a:solidFill>
              </a:rPr>
              <a:t>  </a:t>
            </a:r>
            <a:r>
              <a:rPr lang="en-US" sz="900" dirty="0">
                <a:solidFill>
                  <a:srgbClr val="FF4444"/>
                </a:solidFill>
                <a:highlight>
                  <a:srgbClr val="FFFF00"/>
                </a:highlight>
              </a:rPr>
              <a:t>NO</a:t>
            </a:r>
            <a:endParaRPr lang="en-US" sz="900" dirty="0">
              <a:highlight>
                <a:srgbClr val="FFFF00"/>
              </a:highlight>
            </a:endParaRPr>
          </a:p>
        </p:txBody>
      </p:sp>
      <p:sp>
        <p:nvSpPr>
          <p:cNvPr id="29" name="Shape 27"/>
          <p:cNvSpPr/>
          <p:nvPr/>
        </p:nvSpPr>
        <p:spPr>
          <a:xfrm>
            <a:off x="274320" y="4572000"/>
            <a:ext cx="8595360" cy="384048"/>
          </a:xfrm>
          <a:prstGeom prst="rect">
            <a:avLst/>
          </a:prstGeom>
          <a:solidFill>
            <a:srgbClr val="1B2A3B"/>
          </a:solidFill>
          <a:ln w="12700">
            <a:solidFill>
              <a:srgbClr val="1E3A5F"/>
            </a:solidFill>
            <a:prstDash val="solid"/>
          </a:ln>
        </p:spPr>
      </p:sp>
      <p:sp>
        <p:nvSpPr>
          <p:cNvPr id="30" name="Text 28"/>
          <p:cNvSpPr/>
          <p:nvPr/>
        </p:nvSpPr>
        <p:spPr>
          <a:xfrm>
            <a:off x="274320" y="4572000"/>
            <a:ext cx="8595360" cy="384048"/>
          </a:xfrm>
          <a:prstGeom prst="rect">
            <a:avLst/>
          </a:prstGeom>
          <a:noFill/>
          <a:ln/>
        </p:spPr>
        <p:txBody>
          <a:bodyPr wrap="square" rtlCol="0" anchor="ctr"/>
          <a:lstStyle/>
          <a:p>
            <a:pPr marL="0" indent="0" algn="ctr">
              <a:buNone/>
            </a:pPr>
            <a:r>
              <a:rPr lang="en-US" sz="1000" dirty="0">
                <a:solidFill>
                  <a:srgbClr val="8899AA"/>
                </a:solidFill>
              </a:rPr>
              <a:t>After each scan: LCD resets to 'Scan Your ID' · ESP8266 page auto-refreshes every 5 seconds</a:t>
            </a:r>
            <a:endParaRPr lang="en-US" sz="1000" dirty="0"/>
          </a:p>
        </p:txBody>
      </p:sp>
      <p:sp>
        <p:nvSpPr>
          <p:cNvPr id="31" name="Shape 16">
            <a:extLst>
              <a:ext uri="{FF2B5EF4-FFF2-40B4-BE49-F238E27FC236}">
                <a16:creationId xmlns:a16="http://schemas.microsoft.com/office/drawing/2014/main" id="{AC95DE06-436F-E6A3-B4BD-8042EE265FCB}"/>
              </a:ext>
            </a:extLst>
          </p:cNvPr>
          <p:cNvSpPr/>
          <p:nvPr/>
        </p:nvSpPr>
        <p:spPr>
          <a:xfrm flipH="1" flipV="1">
            <a:off x="2628899" y="3026275"/>
            <a:ext cx="868681" cy="27432"/>
          </a:xfrm>
          <a:prstGeom prst="line">
            <a:avLst/>
          </a:prstGeom>
          <a:noFill/>
          <a:ln w="19050">
            <a:solidFill>
              <a:srgbClr val="8899AA"/>
            </a:solidFill>
            <a:prstDash val="solid"/>
            <a:tailEnd type="arrow"/>
          </a:ln>
        </p:spPr>
        <p:txBody>
          <a:bodyPr/>
          <a:lstStyle/>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A341-2EF0-9AAD-EE76-24D2A07D0B11}"/>
            </a:ext>
          </a:extLst>
        </p:cNvPr>
        <p:cNvGrpSpPr/>
        <p:nvPr/>
      </p:nvGrpSpPr>
      <p:grpSpPr>
        <a:xfrm>
          <a:off x="0" y="0"/>
          <a:ext cx="0" cy="0"/>
          <a:chOff x="0" y="0"/>
          <a:chExt cx="0" cy="0"/>
        </a:xfrm>
      </p:grpSpPr>
      <p:pic>
        <p:nvPicPr>
          <p:cNvPr id="2" name="WhatsApp Video 2026-04-26 at 4.57.48 PM">
            <a:hlinkClick r:id="" action="ppaction://media"/>
            <a:extLst>
              <a:ext uri="{FF2B5EF4-FFF2-40B4-BE49-F238E27FC236}">
                <a16:creationId xmlns:a16="http://schemas.microsoft.com/office/drawing/2014/main" id="{7CF8B4C8-F2AF-D3B1-A5A8-BF80DA71D8A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4187" y="30479"/>
            <a:ext cx="9089814" cy="51130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0127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10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atsApp Video 2026-04-28 at 11.13.08 AM">
            <a:hlinkClick r:id="" action="ppaction://media"/>
            <a:extLst>
              <a:ext uri="{FF2B5EF4-FFF2-40B4-BE49-F238E27FC236}">
                <a16:creationId xmlns:a16="http://schemas.microsoft.com/office/drawing/2014/main" id="{D57359E8-5F7D-3EA2-6638-32B9E4657890}"/>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0" y="1"/>
            <a:ext cx="4572000" cy="2682240"/>
          </a:xfrm>
          <a:prstGeom prst="rect">
            <a:avLst/>
          </a:prstGeom>
        </p:spPr>
      </p:pic>
      <p:pic>
        <p:nvPicPr>
          <p:cNvPr id="3" name="WhatsApp Video 2026-04-28 at 11.26.08 AM">
            <a:hlinkClick r:id="" action="ppaction://media"/>
            <a:extLst>
              <a:ext uri="{FF2B5EF4-FFF2-40B4-BE49-F238E27FC236}">
                <a16:creationId xmlns:a16="http://schemas.microsoft.com/office/drawing/2014/main" id="{3C6781AD-5256-664C-E399-3BA7DF776510}"/>
              </a:ext>
            </a:extLst>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4754880" y="0"/>
            <a:ext cx="4389120" cy="2682240"/>
          </a:xfrm>
          <a:prstGeom prst="rect">
            <a:avLst/>
          </a:prstGeom>
        </p:spPr>
      </p:pic>
      <p:pic>
        <p:nvPicPr>
          <p:cNvPr id="4" name="WhatsApp Video 2026-04-28 at 11.26.27 AM">
            <a:hlinkClick r:id="" action="ppaction://media"/>
            <a:extLst>
              <a:ext uri="{FF2B5EF4-FFF2-40B4-BE49-F238E27FC236}">
                <a16:creationId xmlns:a16="http://schemas.microsoft.com/office/drawing/2014/main" id="{7D00CED6-B7FB-A259-4F64-C5A890A7709F}"/>
              </a:ext>
            </a:extLst>
          </p:cNvPr>
          <p:cNvPicPr>
            <a:picLocks noChangeAspect="1"/>
          </p:cNvPicPr>
          <p:nvPr>
            <a:videoFile r:link="rId6"/>
            <p:extLst>
              <p:ext uri="{DAA4B4D4-6D71-4841-9C94-3DE7FCFB9230}">
                <p14:media xmlns:p14="http://schemas.microsoft.com/office/powerpoint/2010/main" r:embed="rId5"/>
              </p:ext>
            </p:extLst>
          </p:nvPr>
        </p:nvPicPr>
        <p:blipFill>
          <a:blip r:embed="rId10"/>
          <a:stretch>
            <a:fillRect/>
          </a:stretch>
        </p:blipFill>
        <p:spPr>
          <a:xfrm>
            <a:off x="1632373" y="2817707"/>
            <a:ext cx="5384800" cy="2275840"/>
          </a:xfrm>
          <a:prstGeom prst="rect">
            <a:avLst/>
          </a:prstGeom>
        </p:spPr>
      </p:pic>
    </p:spTree>
    <p:extLst>
      <p:ext uri="{BB962C8B-B14F-4D97-AF65-F5344CB8AC3E}">
        <p14:creationId xmlns:p14="http://schemas.microsoft.com/office/powerpoint/2010/main" val="83917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878"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6418" fill="hold"/>
                                        <p:tgtEl>
                                          <p:spTgt spid="3"/>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74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video>
              <p:cMediaNode vol="80000">
                <p:cTn id="21" fill="hold" display="0">
                  <p:stCondLst>
                    <p:cond delay="indefinite"/>
                  </p:stCondLst>
                </p:cTn>
                <p:tgtEl>
                  <p:spTgt spid="3"/>
                </p:tgtEl>
              </p:cMediaNode>
            </p:video>
            <p:seq concurrent="1" nextAc="seek">
              <p:cTn id="22" restart="whenNotActive" fill="hold" evtFilter="cancelBubble" nodeType="interactiveSeq">
                <p:stCondLst>
                  <p:cond evt="onClick" delay="0">
                    <p:tgtEl>
                      <p:spTgt spid="3"/>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3"/>
                                        </p:tgtEl>
                                      </p:cBhvr>
                                    </p:cmd>
                                  </p:childTnLst>
                                </p:cTn>
                              </p:par>
                            </p:childTnLst>
                          </p:cTn>
                        </p:par>
                      </p:childTnLst>
                    </p:cTn>
                  </p:par>
                </p:childTnLst>
              </p:cTn>
              <p:nextCondLst>
                <p:cond evt="onClick" delay="0">
                  <p:tgtEl>
                    <p:spTgt spid="3"/>
                  </p:tgtEl>
                </p:cond>
              </p:nextCondLst>
            </p:seq>
            <p:video>
              <p:cMediaNode vol="80000">
                <p:cTn id="27" fill="hold" display="0">
                  <p:stCondLst>
                    <p:cond delay="indefinite"/>
                  </p:stCondLst>
                </p:cTn>
                <p:tgtEl>
                  <p:spTgt spid="4"/>
                </p:tgtEl>
              </p:cMediaNode>
            </p:video>
            <p:seq concurrent="1" nextAc="seek">
              <p:cTn id="28" restart="whenNotActive" fill="hold" evtFilter="cancelBubble" nodeType="interactiveSeq">
                <p:stCondLst>
                  <p:cond evt="onClick" delay="0">
                    <p:tgtEl>
                      <p:spTgt spid="4"/>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FF"/>
          </a:solidFill>
          <a:ln w="12700">
            <a:solidFill>
              <a:srgbClr val="00D4FF"/>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lgn="ctr">
              <a:buNone/>
            </a:pPr>
            <a:r>
              <a:rPr lang="en-US" sz="2600" b="1" dirty="0">
                <a:solidFill>
                  <a:srgbClr val="FFFFFF"/>
                </a:solidFill>
              </a:rPr>
              <a:t>Output Display — LCD &amp; Mobile</a:t>
            </a:r>
            <a:endParaRPr lang="en-US" sz="2600" dirty="0"/>
          </a:p>
        </p:txBody>
      </p:sp>
      <p:sp>
        <p:nvSpPr>
          <p:cNvPr id="4" name="Shape 2"/>
          <p:cNvSpPr/>
          <p:nvPr/>
        </p:nvSpPr>
        <p:spPr>
          <a:xfrm>
            <a:off x="274320" y="777240"/>
            <a:ext cx="3840480" cy="1234440"/>
          </a:xfrm>
          <a:prstGeom prst="rect">
            <a:avLst/>
          </a:prstGeom>
          <a:solidFill>
            <a:srgbClr val="003322"/>
          </a:solidFill>
          <a:ln w="25400">
            <a:solidFill>
              <a:srgbClr val="00FF88"/>
            </a:solidFill>
            <a:prstDash val="solid"/>
          </a:ln>
        </p:spPr>
      </p:sp>
      <p:sp>
        <p:nvSpPr>
          <p:cNvPr id="5" name="Shape 3"/>
          <p:cNvSpPr/>
          <p:nvPr/>
        </p:nvSpPr>
        <p:spPr>
          <a:xfrm>
            <a:off x="457200" y="941832"/>
            <a:ext cx="3474720" cy="384048"/>
          </a:xfrm>
          <a:prstGeom prst="rect">
            <a:avLst/>
          </a:prstGeom>
          <a:solidFill>
            <a:srgbClr val="001A0D"/>
          </a:solidFill>
          <a:ln w="12700">
            <a:solidFill>
              <a:srgbClr val="005533"/>
            </a:solidFill>
            <a:prstDash val="solid"/>
          </a:ln>
        </p:spPr>
      </p:sp>
      <p:sp>
        <p:nvSpPr>
          <p:cNvPr id="6" name="Text 4"/>
          <p:cNvSpPr/>
          <p:nvPr/>
        </p:nvSpPr>
        <p:spPr>
          <a:xfrm>
            <a:off x="457200" y="941832"/>
            <a:ext cx="3474720" cy="384048"/>
          </a:xfrm>
          <a:prstGeom prst="rect">
            <a:avLst/>
          </a:prstGeom>
          <a:noFill/>
          <a:ln/>
        </p:spPr>
        <p:txBody>
          <a:bodyPr wrap="square" lIns="0" tIns="0" rIns="0" bIns="0" rtlCol="0" anchor="ctr"/>
          <a:lstStyle/>
          <a:p>
            <a:pPr marL="0" indent="0" algn="l">
              <a:buNone/>
            </a:pPr>
            <a:r>
              <a:rPr lang="en-US" sz="1300" dirty="0">
                <a:solidFill>
                  <a:srgbClr val="00FF88"/>
                </a:solidFill>
                <a:latin typeface="Courier New" pitchFamily="34" charset="0"/>
                <a:ea typeface="Courier New" pitchFamily="34" charset="-122"/>
                <a:cs typeface="Courier New" pitchFamily="34" charset="-120"/>
              </a:rPr>
              <a:t>Person1 OK!     </a:t>
            </a:r>
            <a:endParaRPr lang="en-US" sz="1300" dirty="0"/>
          </a:p>
        </p:txBody>
      </p:sp>
      <p:sp>
        <p:nvSpPr>
          <p:cNvPr id="7" name="Shape 5"/>
          <p:cNvSpPr/>
          <p:nvPr/>
        </p:nvSpPr>
        <p:spPr>
          <a:xfrm>
            <a:off x="457200" y="1399032"/>
            <a:ext cx="3474720" cy="384048"/>
          </a:xfrm>
          <a:prstGeom prst="rect">
            <a:avLst/>
          </a:prstGeom>
          <a:solidFill>
            <a:srgbClr val="001A0D"/>
          </a:solidFill>
          <a:ln w="12700">
            <a:solidFill>
              <a:srgbClr val="005533"/>
            </a:solidFill>
            <a:prstDash val="solid"/>
          </a:ln>
        </p:spPr>
      </p:sp>
      <p:sp>
        <p:nvSpPr>
          <p:cNvPr id="8" name="Text 6"/>
          <p:cNvSpPr/>
          <p:nvPr/>
        </p:nvSpPr>
        <p:spPr>
          <a:xfrm>
            <a:off x="457200" y="1399032"/>
            <a:ext cx="3474720" cy="384048"/>
          </a:xfrm>
          <a:prstGeom prst="rect">
            <a:avLst/>
          </a:prstGeom>
          <a:noFill/>
          <a:ln/>
        </p:spPr>
        <p:txBody>
          <a:bodyPr wrap="square" lIns="0" tIns="0" rIns="0" bIns="0" rtlCol="0" anchor="ctr"/>
          <a:lstStyle/>
          <a:p>
            <a:pPr marL="0" indent="0" algn="l">
              <a:buNone/>
            </a:pPr>
            <a:r>
              <a:rPr lang="en-US" sz="1300" dirty="0">
                <a:solidFill>
                  <a:srgbClr val="00FF88"/>
                </a:solidFill>
                <a:latin typeface="Courier New" pitchFamily="34" charset="0"/>
                <a:ea typeface="Courier New" pitchFamily="34" charset="-122"/>
                <a:cs typeface="Courier New" pitchFamily="34" charset="-120"/>
              </a:rPr>
              <a:t>37.2C - Welcome!</a:t>
            </a:r>
            <a:endParaRPr lang="en-US" sz="1300" dirty="0"/>
          </a:p>
        </p:txBody>
      </p:sp>
      <p:sp>
        <p:nvSpPr>
          <p:cNvPr id="9" name="Text 7"/>
          <p:cNvSpPr/>
          <p:nvPr/>
        </p:nvSpPr>
        <p:spPr>
          <a:xfrm>
            <a:off x="274320" y="1856232"/>
            <a:ext cx="3840480" cy="155448"/>
          </a:xfrm>
          <a:prstGeom prst="rect">
            <a:avLst/>
          </a:prstGeom>
          <a:noFill/>
          <a:ln/>
        </p:spPr>
        <p:txBody>
          <a:bodyPr wrap="square" rtlCol="0" anchor="ctr"/>
          <a:lstStyle/>
          <a:p>
            <a:pPr marL="0" indent="0" algn="ctr">
              <a:buNone/>
            </a:pPr>
            <a:r>
              <a:rPr lang="en-US" sz="900" dirty="0">
                <a:solidFill>
                  <a:srgbClr val="00FF88"/>
                </a:solidFill>
              </a:rPr>
              <a:t>✅ Correct ID + Normal Temp</a:t>
            </a:r>
            <a:endParaRPr lang="en-US" sz="900" dirty="0"/>
          </a:p>
        </p:txBody>
      </p:sp>
      <p:sp>
        <p:nvSpPr>
          <p:cNvPr id="10" name="Shape 8"/>
          <p:cNvSpPr/>
          <p:nvPr/>
        </p:nvSpPr>
        <p:spPr>
          <a:xfrm>
            <a:off x="274320" y="2331720"/>
            <a:ext cx="3840480" cy="1234440"/>
          </a:xfrm>
          <a:prstGeom prst="rect">
            <a:avLst/>
          </a:prstGeom>
          <a:solidFill>
            <a:srgbClr val="003322"/>
          </a:solidFill>
          <a:ln w="25400">
            <a:solidFill>
              <a:srgbClr val="FF4444"/>
            </a:solidFill>
            <a:prstDash val="solid"/>
          </a:ln>
        </p:spPr>
      </p:sp>
      <p:sp>
        <p:nvSpPr>
          <p:cNvPr id="11" name="Shape 9"/>
          <p:cNvSpPr/>
          <p:nvPr/>
        </p:nvSpPr>
        <p:spPr>
          <a:xfrm>
            <a:off x="457200" y="2496312"/>
            <a:ext cx="3474720" cy="384048"/>
          </a:xfrm>
          <a:prstGeom prst="rect">
            <a:avLst/>
          </a:prstGeom>
          <a:solidFill>
            <a:srgbClr val="001A0D"/>
          </a:solidFill>
          <a:ln w="12700">
            <a:solidFill>
              <a:srgbClr val="005533"/>
            </a:solidFill>
            <a:prstDash val="solid"/>
          </a:ln>
        </p:spPr>
      </p:sp>
      <p:sp>
        <p:nvSpPr>
          <p:cNvPr id="12" name="Text 10"/>
          <p:cNvSpPr/>
          <p:nvPr/>
        </p:nvSpPr>
        <p:spPr>
          <a:xfrm>
            <a:off x="457200" y="2496312"/>
            <a:ext cx="3474720" cy="384048"/>
          </a:xfrm>
          <a:prstGeom prst="rect">
            <a:avLst/>
          </a:prstGeom>
          <a:noFill/>
          <a:ln/>
        </p:spPr>
        <p:txBody>
          <a:bodyPr wrap="square" lIns="0" tIns="0" rIns="0" bIns="0" rtlCol="0" anchor="ctr"/>
          <a:lstStyle/>
          <a:p>
            <a:pPr marL="0" indent="0" algn="l">
              <a:buNone/>
            </a:pPr>
            <a:r>
              <a:rPr lang="en-US" sz="1300" dirty="0">
                <a:solidFill>
                  <a:srgbClr val="00FF88"/>
                </a:solidFill>
                <a:latin typeface="Courier New" pitchFamily="34" charset="0"/>
                <a:ea typeface="Courier New" pitchFamily="34" charset="-122"/>
                <a:cs typeface="Courier New" pitchFamily="34" charset="-120"/>
              </a:rPr>
              <a:t>!! Wrong ID !!</a:t>
            </a:r>
            <a:endParaRPr lang="en-US" sz="1300" dirty="0"/>
          </a:p>
        </p:txBody>
      </p:sp>
      <p:sp>
        <p:nvSpPr>
          <p:cNvPr id="13" name="Shape 11"/>
          <p:cNvSpPr/>
          <p:nvPr/>
        </p:nvSpPr>
        <p:spPr>
          <a:xfrm>
            <a:off x="457200" y="2953512"/>
            <a:ext cx="3474720" cy="384048"/>
          </a:xfrm>
          <a:prstGeom prst="rect">
            <a:avLst/>
          </a:prstGeom>
          <a:solidFill>
            <a:srgbClr val="001A0D"/>
          </a:solidFill>
          <a:ln w="12700">
            <a:solidFill>
              <a:srgbClr val="005533"/>
            </a:solidFill>
            <a:prstDash val="solid"/>
          </a:ln>
        </p:spPr>
      </p:sp>
      <p:sp>
        <p:nvSpPr>
          <p:cNvPr id="14" name="Text 12"/>
          <p:cNvSpPr/>
          <p:nvPr/>
        </p:nvSpPr>
        <p:spPr>
          <a:xfrm>
            <a:off x="457200" y="2953512"/>
            <a:ext cx="3474720" cy="384048"/>
          </a:xfrm>
          <a:prstGeom prst="rect">
            <a:avLst/>
          </a:prstGeom>
          <a:noFill/>
          <a:ln/>
        </p:spPr>
        <p:txBody>
          <a:bodyPr wrap="square" lIns="0" tIns="0" rIns="0" bIns="0" rtlCol="0" anchor="ctr"/>
          <a:lstStyle/>
          <a:p>
            <a:pPr marL="0" indent="0" algn="l">
              <a:buNone/>
            </a:pPr>
            <a:r>
              <a:rPr lang="en-US" sz="1300" dirty="0">
                <a:solidFill>
                  <a:srgbClr val="00FF88"/>
                </a:solidFill>
                <a:latin typeface="Courier New" pitchFamily="34" charset="0"/>
                <a:ea typeface="Courier New" pitchFamily="34" charset="-122"/>
                <a:cs typeface="Courier New" pitchFamily="34" charset="-120"/>
              </a:rPr>
              <a:t>  Denied  </a:t>
            </a:r>
            <a:endParaRPr lang="en-US" sz="1300" dirty="0"/>
          </a:p>
        </p:txBody>
      </p:sp>
      <p:sp>
        <p:nvSpPr>
          <p:cNvPr id="15" name="Text 13"/>
          <p:cNvSpPr/>
          <p:nvPr/>
        </p:nvSpPr>
        <p:spPr>
          <a:xfrm>
            <a:off x="274320" y="3410712"/>
            <a:ext cx="3840480" cy="155448"/>
          </a:xfrm>
          <a:prstGeom prst="rect">
            <a:avLst/>
          </a:prstGeom>
          <a:noFill/>
          <a:ln/>
        </p:spPr>
        <p:txBody>
          <a:bodyPr wrap="square" rtlCol="0" anchor="ctr"/>
          <a:lstStyle/>
          <a:p>
            <a:pPr marL="0" indent="0" algn="ctr">
              <a:buNone/>
            </a:pPr>
            <a:r>
              <a:rPr lang="en-US" sz="900" dirty="0">
                <a:solidFill>
                  <a:srgbClr val="FF4444"/>
                </a:solidFill>
              </a:rPr>
              <a:t>❌ Wrong ID</a:t>
            </a:r>
            <a:endParaRPr lang="en-US" sz="900" dirty="0"/>
          </a:p>
        </p:txBody>
      </p:sp>
      <p:sp>
        <p:nvSpPr>
          <p:cNvPr id="16" name="Shape 14"/>
          <p:cNvSpPr/>
          <p:nvPr/>
        </p:nvSpPr>
        <p:spPr>
          <a:xfrm>
            <a:off x="274320" y="3708249"/>
            <a:ext cx="3840480" cy="1389888"/>
          </a:xfrm>
          <a:prstGeom prst="rect">
            <a:avLst/>
          </a:prstGeom>
          <a:solidFill>
            <a:srgbClr val="003322"/>
          </a:solidFill>
          <a:ln w="25400">
            <a:solidFill>
              <a:srgbClr val="FF4444"/>
            </a:solidFill>
            <a:prstDash val="solid"/>
          </a:ln>
        </p:spPr>
      </p:sp>
      <p:sp>
        <p:nvSpPr>
          <p:cNvPr id="17" name="Shape 15"/>
          <p:cNvSpPr/>
          <p:nvPr/>
        </p:nvSpPr>
        <p:spPr>
          <a:xfrm>
            <a:off x="457200" y="4009644"/>
            <a:ext cx="3474720" cy="384048"/>
          </a:xfrm>
          <a:prstGeom prst="rect">
            <a:avLst/>
          </a:prstGeom>
          <a:solidFill>
            <a:srgbClr val="001A0D"/>
          </a:solidFill>
          <a:ln w="12700">
            <a:solidFill>
              <a:srgbClr val="005533"/>
            </a:solidFill>
            <a:prstDash val="solid"/>
          </a:ln>
        </p:spPr>
      </p:sp>
      <p:sp>
        <p:nvSpPr>
          <p:cNvPr id="18" name="Text 16"/>
          <p:cNvSpPr/>
          <p:nvPr/>
        </p:nvSpPr>
        <p:spPr>
          <a:xfrm>
            <a:off x="457200" y="4009644"/>
            <a:ext cx="3474720" cy="384048"/>
          </a:xfrm>
          <a:prstGeom prst="rect">
            <a:avLst/>
          </a:prstGeom>
          <a:noFill/>
          <a:ln/>
        </p:spPr>
        <p:txBody>
          <a:bodyPr wrap="square" lIns="0" tIns="0" rIns="0" bIns="0" rtlCol="0" anchor="ctr"/>
          <a:lstStyle/>
          <a:p>
            <a:pPr marL="0" indent="0" algn="l">
              <a:buNone/>
            </a:pPr>
            <a:r>
              <a:rPr lang="en-US" sz="1300" dirty="0">
                <a:solidFill>
                  <a:srgbClr val="00FF88"/>
                </a:solidFill>
                <a:latin typeface="Courier New" pitchFamily="34" charset="0"/>
                <a:ea typeface="Courier New" pitchFamily="34" charset="-122"/>
                <a:cs typeface="Courier New" pitchFamily="34" charset="-120"/>
              </a:rPr>
              <a:t>Person1         </a:t>
            </a:r>
            <a:endParaRPr lang="en-US" sz="1300" dirty="0"/>
          </a:p>
        </p:txBody>
      </p:sp>
      <p:sp>
        <p:nvSpPr>
          <p:cNvPr id="19" name="Shape 17"/>
          <p:cNvSpPr/>
          <p:nvPr/>
        </p:nvSpPr>
        <p:spPr>
          <a:xfrm>
            <a:off x="457200" y="4466844"/>
            <a:ext cx="3474720" cy="384048"/>
          </a:xfrm>
          <a:prstGeom prst="rect">
            <a:avLst/>
          </a:prstGeom>
          <a:solidFill>
            <a:srgbClr val="001A0D"/>
          </a:solidFill>
          <a:ln w="12700">
            <a:solidFill>
              <a:srgbClr val="005533"/>
            </a:solidFill>
            <a:prstDash val="solid"/>
          </a:ln>
        </p:spPr>
      </p:sp>
      <p:sp>
        <p:nvSpPr>
          <p:cNvPr id="20" name="Text 18"/>
          <p:cNvSpPr/>
          <p:nvPr/>
        </p:nvSpPr>
        <p:spPr>
          <a:xfrm>
            <a:off x="457200" y="4466844"/>
            <a:ext cx="3474720" cy="384048"/>
          </a:xfrm>
          <a:prstGeom prst="rect">
            <a:avLst/>
          </a:prstGeom>
          <a:noFill/>
          <a:ln/>
        </p:spPr>
        <p:txBody>
          <a:bodyPr wrap="square" lIns="0" tIns="0" rIns="0" bIns="0" rtlCol="0" anchor="ctr"/>
          <a:lstStyle/>
          <a:p>
            <a:pPr marL="0" indent="0" algn="l">
              <a:buNone/>
            </a:pPr>
            <a:r>
              <a:rPr lang="en-US" sz="1300" dirty="0">
                <a:solidFill>
                  <a:srgbClr val="00FF88"/>
                </a:solidFill>
                <a:latin typeface="Courier New" pitchFamily="34" charset="0"/>
                <a:ea typeface="Courier New" pitchFamily="34" charset="-122"/>
                <a:cs typeface="Courier New" pitchFamily="34" charset="-120"/>
              </a:rPr>
              <a:t>39.1C High!Denied</a:t>
            </a:r>
            <a:endParaRPr lang="en-US" sz="1300" dirty="0"/>
          </a:p>
        </p:txBody>
      </p:sp>
      <p:sp>
        <p:nvSpPr>
          <p:cNvPr id="21" name="Text 19"/>
          <p:cNvSpPr/>
          <p:nvPr/>
        </p:nvSpPr>
        <p:spPr>
          <a:xfrm>
            <a:off x="274320" y="4900876"/>
            <a:ext cx="3840480" cy="155448"/>
          </a:xfrm>
          <a:prstGeom prst="rect">
            <a:avLst/>
          </a:prstGeom>
          <a:noFill/>
          <a:ln/>
        </p:spPr>
        <p:txBody>
          <a:bodyPr wrap="square" rtlCol="0" anchor="ctr"/>
          <a:lstStyle/>
          <a:p>
            <a:pPr marL="0" indent="0" algn="ctr">
              <a:buNone/>
            </a:pPr>
            <a:r>
              <a:rPr lang="en-US" sz="900" dirty="0">
                <a:solidFill>
                  <a:srgbClr val="FF4444"/>
                </a:solidFill>
              </a:rPr>
              <a:t>❌ Correct ID + High Temp</a:t>
            </a:r>
            <a:endParaRPr lang="en-US" sz="900" dirty="0"/>
          </a:p>
        </p:txBody>
      </p:sp>
      <p:sp>
        <p:nvSpPr>
          <p:cNvPr id="23" name="Shape 21"/>
          <p:cNvSpPr/>
          <p:nvPr/>
        </p:nvSpPr>
        <p:spPr>
          <a:xfrm>
            <a:off x="4846320" y="685800"/>
            <a:ext cx="3840480" cy="502920"/>
          </a:xfrm>
          <a:prstGeom prst="rect">
            <a:avLst/>
          </a:prstGeom>
          <a:solidFill>
            <a:srgbClr val="16213E"/>
          </a:solidFill>
          <a:ln w="12700">
            <a:solidFill>
              <a:srgbClr val="16213E"/>
            </a:solidFill>
            <a:prstDash val="solid"/>
          </a:ln>
        </p:spPr>
      </p:sp>
      <p:sp>
        <p:nvSpPr>
          <p:cNvPr id="24" name="Text 22"/>
          <p:cNvSpPr/>
          <p:nvPr/>
        </p:nvSpPr>
        <p:spPr>
          <a:xfrm>
            <a:off x="4846320" y="685800"/>
            <a:ext cx="3840480" cy="502920"/>
          </a:xfrm>
          <a:prstGeom prst="rect">
            <a:avLst/>
          </a:prstGeom>
          <a:noFill/>
          <a:ln/>
        </p:spPr>
        <p:txBody>
          <a:bodyPr wrap="square" rtlCol="0" anchor="ctr"/>
          <a:lstStyle/>
          <a:p>
            <a:pPr marL="0" indent="0" algn="ctr">
              <a:buNone/>
            </a:pPr>
            <a:r>
              <a:rPr lang="en-US" sz="1200" b="1" dirty="0">
                <a:solidFill>
                  <a:srgbClr val="00D4FF"/>
                </a:solidFill>
              </a:rPr>
              <a:t>📋 Attendance Log</a:t>
            </a:r>
            <a:endParaRPr lang="en-US" sz="1200" dirty="0"/>
          </a:p>
        </p:txBody>
      </p:sp>
      <p:sp>
        <p:nvSpPr>
          <p:cNvPr id="25" name="Shape 23"/>
          <p:cNvSpPr/>
          <p:nvPr/>
        </p:nvSpPr>
        <p:spPr>
          <a:xfrm>
            <a:off x="5029200" y="1298448"/>
            <a:ext cx="3474720" cy="530352"/>
          </a:xfrm>
          <a:prstGeom prst="roundRect">
            <a:avLst>
              <a:gd name="adj" fmla="val 12069"/>
            </a:avLst>
          </a:prstGeom>
          <a:solidFill>
            <a:srgbClr val="16213E"/>
          </a:solidFill>
          <a:ln w="12700">
            <a:solidFill>
              <a:srgbClr val="00FF88"/>
            </a:solidFill>
            <a:prstDash val="solid"/>
          </a:ln>
        </p:spPr>
      </p:sp>
      <p:sp>
        <p:nvSpPr>
          <p:cNvPr id="26" name="Text 24"/>
          <p:cNvSpPr/>
          <p:nvPr/>
        </p:nvSpPr>
        <p:spPr>
          <a:xfrm>
            <a:off x="5120640" y="1298448"/>
            <a:ext cx="3291840" cy="530352"/>
          </a:xfrm>
          <a:prstGeom prst="rect">
            <a:avLst/>
          </a:prstGeom>
          <a:noFill/>
          <a:ln/>
        </p:spPr>
        <p:txBody>
          <a:bodyPr wrap="square" rtlCol="0" anchor="ctr"/>
          <a:lstStyle/>
          <a:p>
            <a:pPr marL="0" indent="0">
              <a:buNone/>
            </a:pPr>
            <a:r>
              <a:rPr lang="en-US" sz="850" dirty="0">
                <a:solidFill>
                  <a:srgbClr val="00FF88"/>
                </a:solidFill>
              </a:rPr>
              <a:t>Person1 - 37.2C (Entered)</a:t>
            </a:r>
            <a:endParaRPr lang="en-US" sz="850" dirty="0"/>
          </a:p>
        </p:txBody>
      </p:sp>
      <p:sp>
        <p:nvSpPr>
          <p:cNvPr id="29" name="Shape 27"/>
          <p:cNvSpPr/>
          <p:nvPr/>
        </p:nvSpPr>
        <p:spPr>
          <a:xfrm>
            <a:off x="5029200" y="2007955"/>
            <a:ext cx="3474720" cy="530352"/>
          </a:xfrm>
          <a:prstGeom prst="roundRect">
            <a:avLst>
              <a:gd name="adj" fmla="val 12069"/>
            </a:avLst>
          </a:prstGeom>
          <a:solidFill>
            <a:srgbClr val="16213E"/>
          </a:solidFill>
          <a:ln w="12700">
            <a:solidFill>
              <a:srgbClr val="FF4444"/>
            </a:solidFill>
            <a:prstDash val="solid"/>
          </a:ln>
        </p:spPr>
      </p:sp>
      <p:sp>
        <p:nvSpPr>
          <p:cNvPr id="30" name="Text 28"/>
          <p:cNvSpPr/>
          <p:nvPr/>
        </p:nvSpPr>
        <p:spPr>
          <a:xfrm>
            <a:off x="5212080" y="1923965"/>
            <a:ext cx="3291840" cy="530352"/>
          </a:xfrm>
          <a:prstGeom prst="rect">
            <a:avLst/>
          </a:prstGeom>
          <a:noFill/>
          <a:ln/>
        </p:spPr>
        <p:txBody>
          <a:bodyPr wrap="square" rtlCol="0" anchor="ctr"/>
          <a:lstStyle/>
          <a:p>
            <a:pPr marL="0" indent="0">
              <a:buNone/>
            </a:pPr>
            <a:r>
              <a:rPr lang="en-US" sz="850" dirty="0">
                <a:solidFill>
                  <a:srgbClr val="FF4444"/>
                </a:solidFill>
              </a:rPr>
              <a:t>A1B2C3D4 - 38.1C</a:t>
            </a:r>
            <a:endParaRPr lang="en-US" sz="850" dirty="0"/>
          </a:p>
          <a:p>
            <a:pPr marL="0" indent="0">
              <a:buNone/>
            </a:pPr>
            <a:r>
              <a:rPr lang="en-US" sz="850" dirty="0">
                <a:solidFill>
                  <a:srgbClr val="FF4444"/>
                </a:solidFill>
              </a:rPr>
              <a:t>(Wrong ID)</a:t>
            </a:r>
            <a:endParaRPr lang="en-US" sz="850" dirty="0"/>
          </a:p>
        </p:txBody>
      </p:sp>
      <p:sp>
        <p:nvSpPr>
          <p:cNvPr id="31" name="Shape 29"/>
          <p:cNvSpPr/>
          <p:nvPr/>
        </p:nvSpPr>
        <p:spPr>
          <a:xfrm>
            <a:off x="5029200" y="2717462"/>
            <a:ext cx="3474720" cy="530352"/>
          </a:xfrm>
          <a:prstGeom prst="roundRect">
            <a:avLst>
              <a:gd name="adj" fmla="val 12069"/>
            </a:avLst>
          </a:prstGeom>
          <a:solidFill>
            <a:srgbClr val="16213E"/>
          </a:solidFill>
          <a:ln w="12700">
            <a:solidFill>
              <a:srgbClr val="FF8800"/>
            </a:solidFill>
            <a:prstDash val="solid"/>
          </a:ln>
        </p:spPr>
      </p:sp>
      <p:sp>
        <p:nvSpPr>
          <p:cNvPr id="32" name="Text 30"/>
          <p:cNvSpPr/>
          <p:nvPr/>
        </p:nvSpPr>
        <p:spPr>
          <a:xfrm>
            <a:off x="5120640" y="2770292"/>
            <a:ext cx="3291840" cy="426721"/>
          </a:xfrm>
          <a:prstGeom prst="rect">
            <a:avLst/>
          </a:prstGeom>
          <a:noFill/>
          <a:ln/>
        </p:spPr>
        <p:txBody>
          <a:bodyPr wrap="square" rtlCol="0" anchor="ctr"/>
          <a:lstStyle/>
          <a:p>
            <a:pPr marL="0" indent="0">
              <a:buNone/>
            </a:pPr>
            <a:r>
              <a:rPr lang="en-US" sz="850" dirty="0">
                <a:solidFill>
                  <a:srgbClr val="FF8800"/>
                </a:solidFill>
              </a:rPr>
              <a:t>Person1 - 38.5C</a:t>
            </a:r>
            <a:endParaRPr lang="en-US" sz="850" dirty="0"/>
          </a:p>
          <a:p>
            <a:pPr marL="0" indent="0">
              <a:buNone/>
            </a:pPr>
            <a:r>
              <a:rPr lang="en-US" sz="850" dirty="0">
                <a:solidFill>
                  <a:srgbClr val="FF8800"/>
                </a:solidFill>
              </a:rPr>
              <a:t>(High Temp!)</a:t>
            </a:r>
            <a:endParaRPr lang="en-US" sz="850" dirty="0"/>
          </a:p>
        </p:txBody>
      </p:sp>
      <p:sp>
        <p:nvSpPr>
          <p:cNvPr id="34" name="Text 32"/>
          <p:cNvSpPr/>
          <p:nvPr/>
        </p:nvSpPr>
        <p:spPr>
          <a:xfrm>
            <a:off x="5120640" y="3785616"/>
            <a:ext cx="3291840" cy="530352"/>
          </a:xfrm>
          <a:prstGeom prst="rect">
            <a:avLst/>
          </a:prstGeom>
          <a:noFill/>
          <a:ln/>
        </p:spPr>
        <p:txBody>
          <a:bodyPr wrap="square" rtlCol="0" anchor="ctr"/>
          <a:lstStyle/>
          <a:p>
            <a:pPr marL="0" indent="0">
              <a:buNone/>
            </a:pP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FF"/>
          </a:solidFill>
          <a:ln w="12700">
            <a:solidFill>
              <a:srgbClr val="00D4FF"/>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lgn="ctr">
              <a:buNone/>
            </a:pPr>
            <a:r>
              <a:rPr lang="en-US" sz="2600" b="1" dirty="0">
                <a:solidFill>
                  <a:srgbClr val="FFFFFF"/>
                </a:solidFill>
              </a:rPr>
              <a:t>Project Summary</a:t>
            </a:r>
            <a:endParaRPr lang="en-US" sz="2600" dirty="0"/>
          </a:p>
        </p:txBody>
      </p:sp>
      <p:sp>
        <p:nvSpPr>
          <p:cNvPr id="4" name="Shape 2"/>
          <p:cNvSpPr/>
          <p:nvPr/>
        </p:nvSpPr>
        <p:spPr>
          <a:xfrm>
            <a:off x="274320" y="822960"/>
            <a:ext cx="4114800" cy="1097280"/>
          </a:xfrm>
          <a:prstGeom prst="rect">
            <a:avLst/>
          </a:prstGeom>
          <a:solidFill>
            <a:srgbClr val="1B2A3B"/>
          </a:solidFill>
          <a:ln w="12700">
            <a:solidFill>
              <a:srgbClr val="1E3A5F"/>
            </a:solidFill>
            <a:prstDash val="solid"/>
          </a:ln>
        </p:spPr>
      </p:sp>
      <p:sp>
        <p:nvSpPr>
          <p:cNvPr id="5" name="Shape 3"/>
          <p:cNvSpPr/>
          <p:nvPr/>
        </p:nvSpPr>
        <p:spPr>
          <a:xfrm>
            <a:off x="274320" y="822960"/>
            <a:ext cx="54864" cy="1097280"/>
          </a:xfrm>
          <a:prstGeom prst="rect">
            <a:avLst/>
          </a:prstGeom>
          <a:solidFill>
            <a:srgbClr val="00D4FF"/>
          </a:solidFill>
          <a:ln w="12700">
            <a:solidFill>
              <a:srgbClr val="00D4FF"/>
            </a:solidFill>
            <a:prstDash val="solid"/>
          </a:ln>
        </p:spPr>
      </p:sp>
      <p:sp>
        <p:nvSpPr>
          <p:cNvPr id="6" name="Text 4"/>
          <p:cNvSpPr/>
          <p:nvPr/>
        </p:nvSpPr>
        <p:spPr>
          <a:xfrm>
            <a:off x="438912" y="914400"/>
            <a:ext cx="3840480" cy="365760"/>
          </a:xfrm>
          <a:prstGeom prst="rect">
            <a:avLst/>
          </a:prstGeom>
          <a:noFill/>
          <a:ln/>
        </p:spPr>
        <p:txBody>
          <a:bodyPr wrap="square" rtlCol="0" anchor="ctr"/>
          <a:lstStyle/>
          <a:p>
            <a:pPr marL="0" indent="0">
              <a:buNone/>
            </a:pPr>
            <a:r>
              <a:rPr lang="en-US" sz="1300" b="1" dirty="0">
                <a:solidFill>
                  <a:srgbClr val="00D4FF"/>
                </a:solidFill>
              </a:rPr>
              <a:t>🪪 RFID Authentication</a:t>
            </a:r>
            <a:endParaRPr lang="en-US" sz="1300" dirty="0"/>
          </a:p>
        </p:txBody>
      </p:sp>
      <p:sp>
        <p:nvSpPr>
          <p:cNvPr id="7" name="Text 5"/>
          <p:cNvSpPr/>
          <p:nvPr/>
        </p:nvSpPr>
        <p:spPr>
          <a:xfrm>
            <a:off x="438912" y="1298448"/>
            <a:ext cx="3840480" cy="502920"/>
          </a:xfrm>
          <a:prstGeom prst="rect">
            <a:avLst/>
          </a:prstGeom>
          <a:noFill/>
          <a:ln/>
        </p:spPr>
        <p:txBody>
          <a:bodyPr wrap="square" rtlCol="0" anchor="ctr"/>
          <a:lstStyle/>
          <a:p>
            <a:pPr marL="0" indent="0">
              <a:buNone/>
            </a:pPr>
            <a:r>
              <a:rPr lang="en-US" sz="1000" dirty="0">
                <a:solidFill>
                  <a:srgbClr val="FFFFFF"/>
                </a:solidFill>
              </a:rPr>
              <a:t>RFID-RC522 sensor scans cards. Only registered UIDs are allowed entry.</a:t>
            </a:r>
            <a:endParaRPr lang="en-US" sz="1000" dirty="0"/>
          </a:p>
        </p:txBody>
      </p:sp>
      <p:sp>
        <p:nvSpPr>
          <p:cNvPr id="8" name="Shape 6"/>
          <p:cNvSpPr/>
          <p:nvPr/>
        </p:nvSpPr>
        <p:spPr>
          <a:xfrm>
            <a:off x="4709160" y="822960"/>
            <a:ext cx="4114800" cy="1097280"/>
          </a:xfrm>
          <a:prstGeom prst="rect">
            <a:avLst/>
          </a:prstGeom>
          <a:solidFill>
            <a:srgbClr val="1B2A3B"/>
          </a:solidFill>
          <a:ln w="12700">
            <a:solidFill>
              <a:srgbClr val="1E3A5F"/>
            </a:solidFill>
            <a:prstDash val="solid"/>
          </a:ln>
        </p:spPr>
      </p:sp>
      <p:sp>
        <p:nvSpPr>
          <p:cNvPr id="9" name="Shape 7"/>
          <p:cNvSpPr/>
          <p:nvPr/>
        </p:nvSpPr>
        <p:spPr>
          <a:xfrm>
            <a:off x="4709160" y="822960"/>
            <a:ext cx="54864" cy="1097280"/>
          </a:xfrm>
          <a:prstGeom prst="rect">
            <a:avLst/>
          </a:prstGeom>
          <a:solidFill>
            <a:srgbClr val="00D4FF"/>
          </a:solidFill>
          <a:ln w="12700">
            <a:solidFill>
              <a:srgbClr val="00D4FF"/>
            </a:solidFill>
            <a:prstDash val="solid"/>
          </a:ln>
        </p:spPr>
      </p:sp>
      <p:sp>
        <p:nvSpPr>
          <p:cNvPr id="10" name="Text 8"/>
          <p:cNvSpPr/>
          <p:nvPr/>
        </p:nvSpPr>
        <p:spPr>
          <a:xfrm>
            <a:off x="4873752" y="914400"/>
            <a:ext cx="3840480" cy="365760"/>
          </a:xfrm>
          <a:prstGeom prst="rect">
            <a:avLst/>
          </a:prstGeom>
          <a:noFill/>
          <a:ln/>
        </p:spPr>
        <p:txBody>
          <a:bodyPr wrap="square" rtlCol="0" anchor="ctr"/>
          <a:lstStyle/>
          <a:p>
            <a:pPr marL="0" indent="0">
              <a:buNone/>
            </a:pPr>
            <a:r>
              <a:rPr lang="en-US" sz="1300" b="1" dirty="0">
                <a:solidFill>
                  <a:srgbClr val="00D4FF"/>
                </a:solidFill>
              </a:rPr>
              <a:t>🌡️ Temperature Check</a:t>
            </a:r>
            <a:endParaRPr lang="en-US" sz="1300" dirty="0"/>
          </a:p>
        </p:txBody>
      </p:sp>
      <p:sp>
        <p:nvSpPr>
          <p:cNvPr id="11" name="Text 9"/>
          <p:cNvSpPr/>
          <p:nvPr/>
        </p:nvSpPr>
        <p:spPr>
          <a:xfrm>
            <a:off x="4873752" y="1298448"/>
            <a:ext cx="3840480" cy="502920"/>
          </a:xfrm>
          <a:prstGeom prst="rect">
            <a:avLst/>
          </a:prstGeom>
          <a:noFill/>
          <a:ln/>
        </p:spPr>
        <p:txBody>
          <a:bodyPr wrap="square" rtlCol="0" anchor="ctr"/>
          <a:lstStyle/>
          <a:p>
            <a:pPr marL="0" indent="0">
              <a:buNone/>
            </a:pPr>
            <a:r>
              <a:rPr lang="en-US" sz="1000" dirty="0">
                <a:solidFill>
                  <a:srgbClr val="FFFFFF"/>
                </a:solidFill>
              </a:rPr>
              <a:t>LM35 reads temp via A0. Entry blocked if temp &gt; 37.5°C.</a:t>
            </a:r>
            <a:endParaRPr lang="en-US" sz="1000" dirty="0"/>
          </a:p>
        </p:txBody>
      </p:sp>
      <p:sp>
        <p:nvSpPr>
          <p:cNvPr id="12" name="Shape 10"/>
          <p:cNvSpPr/>
          <p:nvPr/>
        </p:nvSpPr>
        <p:spPr>
          <a:xfrm>
            <a:off x="274320" y="2103120"/>
            <a:ext cx="4114800" cy="1097280"/>
          </a:xfrm>
          <a:prstGeom prst="rect">
            <a:avLst/>
          </a:prstGeom>
          <a:solidFill>
            <a:srgbClr val="1B2A3B"/>
          </a:solidFill>
          <a:ln w="12700">
            <a:solidFill>
              <a:srgbClr val="1E3A5F"/>
            </a:solidFill>
            <a:prstDash val="solid"/>
          </a:ln>
        </p:spPr>
      </p:sp>
      <p:sp>
        <p:nvSpPr>
          <p:cNvPr id="13" name="Shape 11"/>
          <p:cNvSpPr/>
          <p:nvPr/>
        </p:nvSpPr>
        <p:spPr>
          <a:xfrm>
            <a:off x="274320" y="2103120"/>
            <a:ext cx="54864" cy="1097280"/>
          </a:xfrm>
          <a:prstGeom prst="rect">
            <a:avLst/>
          </a:prstGeom>
          <a:solidFill>
            <a:srgbClr val="00D4FF"/>
          </a:solidFill>
          <a:ln w="12700">
            <a:solidFill>
              <a:srgbClr val="00D4FF"/>
            </a:solidFill>
            <a:prstDash val="solid"/>
          </a:ln>
        </p:spPr>
      </p:sp>
      <p:sp>
        <p:nvSpPr>
          <p:cNvPr id="14" name="Text 12"/>
          <p:cNvSpPr/>
          <p:nvPr/>
        </p:nvSpPr>
        <p:spPr>
          <a:xfrm>
            <a:off x="438912" y="2194560"/>
            <a:ext cx="3840480" cy="365760"/>
          </a:xfrm>
          <a:prstGeom prst="rect">
            <a:avLst/>
          </a:prstGeom>
          <a:noFill/>
          <a:ln/>
        </p:spPr>
        <p:txBody>
          <a:bodyPr wrap="square" rtlCol="0" anchor="ctr"/>
          <a:lstStyle/>
          <a:p>
            <a:pPr marL="0" indent="0">
              <a:buNone/>
            </a:pPr>
            <a:r>
              <a:rPr lang="en-US" sz="1300" b="1" dirty="0">
                <a:solidFill>
                  <a:srgbClr val="00D4FF"/>
                </a:solidFill>
              </a:rPr>
              <a:t>💡 LED Indicators</a:t>
            </a:r>
            <a:endParaRPr lang="en-US" sz="1300" dirty="0"/>
          </a:p>
        </p:txBody>
      </p:sp>
      <p:sp>
        <p:nvSpPr>
          <p:cNvPr id="15" name="Text 13"/>
          <p:cNvSpPr/>
          <p:nvPr/>
        </p:nvSpPr>
        <p:spPr>
          <a:xfrm>
            <a:off x="438912" y="2578608"/>
            <a:ext cx="3840480" cy="502920"/>
          </a:xfrm>
          <a:prstGeom prst="rect">
            <a:avLst/>
          </a:prstGeom>
          <a:noFill/>
          <a:ln/>
        </p:spPr>
        <p:txBody>
          <a:bodyPr wrap="square" rtlCol="0" anchor="ctr"/>
          <a:lstStyle/>
          <a:p>
            <a:pPr marL="0" indent="0">
              <a:buNone/>
            </a:pPr>
            <a:r>
              <a:rPr lang="en-US" sz="1000" dirty="0">
                <a:solidFill>
                  <a:srgbClr val="FFFFFF"/>
                </a:solidFill>
              </a:rPr>
              <a:t>Green LED = allowed. Red LED = denied. Instant visual feedback.</a:t>
            </a:r>
            <a:endParaRPr lang="en-US" sz="1000" dirty="0"/>
          </a:p>
        </p:txBody>
      </p:sp>
      <p:sp>
        <p:nvSpPr>
          <p:cNvPr id="16" name="Shape 14"/>
          <p:cNvSpPr/>
          <p:nvPr/>
        </p:nvSpPr>
        <p:spPr>
          <a:xfrm>
            <a:off x="4709160" y="2103120"/>
            <a:ext cx="4114800" cy="1097280"/>
          </a:xfrm>
          <a:prstGeom prst="rect">
            <a:avLst/>
          </a:prstGeom>
          <a:solidFill>
            <a:srgbClr val="1B2A3B"/>
          </a:solidFill>
          <a:ln w="12700">
            <a:solidFill>
              <a:srgbClr val="1E3A5F"/>
            </a:solidFill>
            <a:prstDash val="solid"/>
          </a:ln>
        </p:spPr>
      </p:sp>
      <p:sp>
        <p:nvSpPr>
          <p:cNvPr id="17" name="Shape 15"/>
          <p:cNvSpPr/>
          <p:nvPr/>
        </p:nvSpPr>
        <p:spPr>
          <a:xfrm>
            <a:off x="4709160" y="2103120"/>
            <a:ext cx="54864" cy="1097280"/>
          </a:xfrm>
          <a:prstGeom prst="rect">
            <a:avLst/>
          </a:prstGeom>
          <a:solidFill>
            <a:srgbClr val="00D4FF"/>
          </a:solidFill>
          <a:ln w="12700">
            <a:solidFill>
              <a:srgbClr val="00D4FF"/>
            </a:solidFill>
            <a:prstDash val="solid"/>
          </a:ln>
        </p:spPr>
      </p:sp>
      <p:sp>
        <p:nvSpPr>
          <p:cNvPr id="18" name="Text 16"/>
          <p:cNvSpPr/>
          <p:nvPr/>
        </p:nvSpPr>
        <p:spPr>
          <a:xfrm>
            <a:off x="4873752" y="2194560"/>
            <a:ext cx="3840480" cy="365760"/>
          </a:xfrm>
          <a:prstGeom prst="rect">
            <a:avLst/>
          </a:prstGeom>
          <a:noFill/>
          <a:ln/>
        </p:spPr>
        <p:txBody>
          <a:bodyPr wrap="square" rtlCol="0" anchor="ctr"/>
          <a:lstStyle/>
          <a:p>
            <a:pPr marL="0" indent="0">
              <a:buNone/>
            </a:pPr>
            <a:r>
              <a:rPr lang="en-US" sz="1300" b="1" dirty="0">
                <a:solidFill>
                  <a:srgbClr val="00D4FF"/>
                </a:solidFill>
              </a:rPr>
              <a:t>📺 LCD Display</a:t>
            </a:r>
            <a:endParaRPr lang="en-US" sz="1300" dirty="0"/>
          </a:p>
        </p:txBody>
      </p:sp>
      <p:sp>
        <p:nvSpPr>
          <p:cNvPr id="19" name="Text 17"/>
          <p:cNvSpPr/>
          <p:nvPr/>
        </p:nvSpPr>
        <p:spPr>
          <a:xfrm>
            <a:off x="4873752" y="2578608"/>
            <a:ext cx="3840480" cy="502920"/>
          </a:xfrm>
          <a:prstGeom prst="rect">
            <a:avLst/>
          </a:prstGeom>
          <a:noFill/>
          <a:ln/>
        </p:spPr>
        <p:txBody>
          <a:bodyPr wrap="square" rtlCol="0" anchor="ctr"/>
          <a:lstStyle/>
          <a:p>
            <a:pPr marL="0" indent="0">
              <a:buNone/>
            </a:pPr>
            <a:r>
              <a:rPr lang="en-US" sz="1000" dirty="0">
                <a:solidFill>
                  <a:srgbClr val="FFFFFF"/>
                </a:solidFill>
              </a:rPr>
              <a:t>16x2 LCD shows name, temperature and status in 4-bit mode.</a:t>
            </a:r>
            <a:endParaRPr lang="en-US" sz="1000" dirty="0"/>
          </a:p>
        </p:txBody>
      </p:sp>
      <p:sp>
        <p:nvSpPr>
          <p:cNvPr id="20" name="Shape 18"/>
          <p:cNvSpPr/>
          <p:nvPr/>
        </p:nvSpPr>
        <p:spPr>
          <a:xfrm>
            <a:off x="274320" y="3383280"/>
            <a:ext cx="4114800" cy="1097280"/>
          </a:xfrm>
          <a:prstGeom prst="rect">
            <a:avLst/>
          </a:prstGeom>
          <a:solidFill>
            <a:srgbClr val="1B2A3B"/>
          </a:solidFill>
          <a:ln w="12700">
            <a:solidFill>
              <a:srgbClr val="1E3A5F"/>
            </a:solidFill>
            <a:prstDash val="solid"/>
          </a:ln>
        </p:spPr>
      </p:sp>
      <p:sp>
        <p:nvSpPr>
          <p:cNvPr id="21" name="Shape 19"/>
          <p:cNvSpPr/>
          <p:nvPr/>
        </p:nvSpPr>
        <p:spPr>
          <a:xfrm>
            <a:off x="274320" y="3383280"/>
            <a:ext cx="54864" cy="1097280"/>
          </a:xfrm>
          <a:prstGeom prst="rect">
            <a:avLst/>
          </a:prstGeom>
          <a:solidFill>
            <a:srgbClr val="00D4FF"/>
          </a:solidFill>
          <a:ln w="12700">
            <a:solidFill>
              <a:srgbClr val="00D4FF"/>
            </a:solidFill>
            <a:prstDash val="solid"/>
          </a:ln>
        </p:spPr>
      </p:sp>
      <p:sp>
        <p:nvSpPr>
          <p:cNvPr id="22" name="Text 20"/>
          <p:cNvSpPr/>
          <p:nvPr/>
        </p:nvSpPr>
        <p:spPr>
          <a:xfrm>
            <a:off x="438912" y="3474720"/>
            <a:ext cx="3840480" cy="365760"/>
          </a:xfrm>
          <a:prstGeom prst="rect">
            <a:avLst/>
          </a:prstGeom>
          <a:noFill/>
          <a:ln/>
        </p:spPr>
        <p:txBody>
          <a:bodyPr wrap="square" rtlCol="0" anchor="ctr"/>
          <a:lstStyle/>
          <a:p>
            <a:pPr marL="0" indent="0">
              <a:buNone/>
            </a:pPr>
            <a:r>
              <a:rPr lang="en-US" sz="1300" b="1" dirty="0">
                <a:solidFill>
                  <a:srgbClr val="00D4FF"/>
                </a:solidFill>
              </a:rPr>
              <a:t>📱 IoT Monitoring</a:t>
            </a:r>
            <a:endParaRPr lang="en-US" sz="1300" dirty="0"/>
          </a:p>
        </p:txBody>
      </p:sp>
      <p:sp>
        <p:nvSpPr>
          <p:cNvPr id="23" name="Text 21"/>
          <p:cNvSpPr/>
          <p:nvPr/>
        </p:nvSpPr>
        <p:spPr>
          <a:xfrm>
            <a:off x="438912" y="3858768"/>
            <a:ext cx="3840480" cy="502920"/>
          </a:xfrm>
          <a:prstGeom prst="rect">
            <a:avLst/>
          </a:prstGeom>
          <a:noFill/>
          <a:ln/>
        </p:spPr>
        <p:txBody>
          <a:bodyPr wrap="square" rtlCol="0" anchor="ctr"/>
          <a:lstStyle/>
          <a:p>
            <a:pPr marL="0" indent="0">
              <a:buNone/>
            </a:pPr>
            <a:r>
              <a:rPr lang="en-US" sz="1000" dirty="0">
                <a:solidFill>
                  <a:srgbClr val="FFFFFF"/>
                </a:solidFill>
              </a:rPr>
              <a:t>ESP8266 hosts a web page — view attendance log </a:t>
            </a:r>
            <a:r>
              <a:rPr lang="en-US" sz="1000">
                <a:solidFill>
                  <a:srgbClr val="FFFFFF"/>
                </a:solidFill>
              </a:rPr>
              <a:t>on our </a:t>
            </a:r>
            <a:r>
              <a:rPr lang="en-US" sz="1000" dirty="0">
                <a:solidFill>
                  <a:srgbClr val="FFFFFF"/>
                </a:solidFill>
              </a:rPr>
              <a:t>phone!</a:t>
            </a:r>
            <a:endParaRPr lang="en-US" sz="1000" dirty="0"/>
          </a:p>
        </p:txBody>
      </p:sp>
      <p:sp>
        <p:nvSpPr>
          <p:cNvPr id="28" name="Shape 26"/>
          <p:cNvSpPr/>
          <p:nvPr/>
        </p:nvSpPr>
        <p:spPr>
          <a:xfrm>
            <a:off x="0" y="4864608"/>
            <a:ext cx="9144000" cy="274320"/>
          </a:xfrm>
          <a:prstGeom prst="rect">
            <a:avLst/>
          </a:prstGeom>
          <a:solidFill>
            <a:srgbClr val="001122"/>
          </a:solidFill>
          <a:ln w="12700">
            <a:solidFill>
              <a:srgbClr val="001122"/>
            </a:solidFill>
            <a:prstDash val="solid"/>
          </a:ln>
        </p:spPr>
      </p:sp>
      <p:sp>
        <p:nvSpPr>
          <p:cNvPr id="29" name="Text 27"/>
          <p:cNvSpPr/>
          <p:nvPr/>
        </p:nvSpPr>
        <p:spPr>
          <a:xfrm>
            <a:off x="0" y="4864608"/>
            <a:ext cx="9144000" cy="274320"/>
          </a:xfrm>
          <a:prstGeom prst="rect">
            <a:avLst/>
          </a:prstGeom>
          <a:noFill/>
          <a:ln/>
        </p:spPr>
        <p:txBody>
          <a:bodyPr wrap="square" rtlCol="0" anchor="ctr"/>
          <a:lstStyle/>
          <a:p>
            <a:pPr marL="0" indent="0" algn="ctr">
              <a:buNone/>
            </a:pPr>
            <a:r>
              <a:rPr lang="en-US" sz="1000" dirty="0">
                <a:solidFill>
                  <a:srgbClr val="8899AA"/>
                </a:solidFill>
              </a:rPr>
              <a:t>Built with Arduino Uno  </a:t>
            </a:r>
            <a:r>
              <a:rPr lang="en-US" sz="1000">
                <a:solidFill>
                  <a:srgbClr val="8899AA"/>
                </a:solidFill>
              </a:rPr>
              <a:t>•  RFID-RC522  </a:t>
            </a:r>
            <a:r>
              <a:rPr lang="en-US" sz="1000" dirty="0">
                <a:solidFill>
                  <a:srgbClr val="8899AA"/>
                </a:solidFill>
              </a:rPr>
              <a:t>•  LM35  •  ESP8266  •  LCD 16x2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6A085"/>
                </a:solidFill>
                <a:effectLst/>
                <a:uLnTx/>
                <a:uFillTx/>
                <a:latin typeface="Calibri" pitchFamily="34" charset="0"/>
                <a:ea typeface="Calibri" pitchFamily="34" charset="-122"/>
                <a:cs typeface="Calibri" pitchFamily="34" charset="-120"/>
              </a:rPr>
              <a:t>Thank You!</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468880"/>
            <a:ext cx="82296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dirty="0">
              <a:solidFill>
                <a:srgbClr val="FFFFFF"/>
              </a:solidFill>
              <a:latin typeface="Calibri" pitchFamily="34" charset="0"/>
              <a:ea typeface="Calibri" pitchFamily="34" charset="-122"/>
              <a:cs typeface="Calibri"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3291840"/>
            <a:ext cx="8229600" cy="10972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Team Members: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 Vinay Varma (B24EC010) | G. Ganesh (B24EC011) | M.V. Sri Teja (B24EC016)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ECL211 Project | Department of Electronics &amp; Communication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Graphic 5" descr="Angel face with solid fill with solid fill">
            <a:extLst>
              <a:ext uri="{FF2B5EF4-FFF2-40B4-BE49-F238E27FC236}">
                <a16:creationId xmlns:a16="http://schemas.microsoft.com/office/drawing/2014/main" id="{C53CEDAE-85E9-EAB5-EDEA-4577BCC894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72127" y="2286000"/>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664</TotalTime>
  <Words>1473</Words>
  <Application>Microsoft Office PowerPoint</Application>
  <PresentationFormat>On-screen Show (16:9)</PresentationFormat>
  <Paragraphs>219</Paragraphs>
  <Slides>13</Slides>
  <Notes>7</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RFID Attendance System</dc:title>
  <dc:subject>PptxGenJS Presentation</dc:subject>
  <dc:creator>PptxGenJS</dc:creator>
  <cp:lastModifiedBy>Vinay Varma Gandi</cp:lastModifiedBy>
  <cp:revision>8</cp:revision>
  <dcterms:created xsi:type="dcterms:W3CDTF">2026-04-22T10:58:23Z</dcterms:created>
  <dcterms:modified xsi:type="dcterms:W3CDTF">2026-04-28T09:28:34Z</dcterms:modified>
</cp:coreProperties>
</file>